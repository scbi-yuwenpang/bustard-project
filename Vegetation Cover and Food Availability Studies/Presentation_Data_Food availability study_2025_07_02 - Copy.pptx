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4" r:id="rId3"/>
    <p:sldId id="287" r:id="rId4"/>
    <p:sldId id="273" r:id="rId5"/>
    <p:sldId id="275" r:id="rId6"/>
    <p:sldId id="264" r:id="rId7"/>
    <p:sldId id="278" r:id="rId8"/>
    <p:sldId id="285" r:id="rId9"/>
    <p:sldId id="286" r:id="rId10"/>
    <p:sldId id="266" r:id="rId11"/>
    <p:sldId id="283" r:id="rId12"/>
  </p:sldIdLst>
  <p:sldSz cx="12192000" cy="6858000"/>
  <p:notesSz cx="6797675" cy="99282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0E0C"/>
    <a:srgbClr val="FFCC66"/>
    <a:srgbClr val="CCFFFF"/>
    <a:srgbClr val="CDA052"/>
    <a:srgbClr val="BA8F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9" d="100"/>
          <a:sy n="79" d="100"/>
        </p:scale>
        <p:origin x="68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francois\Data\Labo_Mat&#233;riel_Protocoles\Ressources%20trophiques\Maroc_Resultats_globaux\Trap_disturbance%202017_202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Fieldwork time 2022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Feuil1!$B$2</c:f>
              <c:strCache>
                <c:ptCount val="1"/>
                <c:pt idx="0">
                  <c:v>theoretical</c:v>
                </c:pt>
              </c:strCache>
            </c:strRef>
          </c:tx>
          <c:spPr>
            <a:solidFill>
              <a:srgbClr val="FFC000"/>
            </a:solidFill>
            <a:ln>
              <a:noFill/>
            </a:ln>
            <a:effectLst/>
          </c:spPr>
          <c:invertIfNegative val="0"/>
          <c:cat>
            <c:strRef>
              <c:f>Feuil1!$A$3:$A$6</c:f>
              <c:strCache>
                <c:ptCount val="4"/>
                <c:pt idx="0">
                  <c:v>April</c:v>
                </c:pt>
                <c:pt idx="1">
                  <c:v>June</c:v>
                </c:pt>
                <c:pt idx="2">
                  <c:v>October</c:v>
                </c:pt>
                <c:pt idx="3">
                  <c:v>December</c:v>
                </c:pt>
              </c:strCache>
            </c:strRef>
          </c:cat>
          <c:val>
            <c:numRef>
              <c:f>Feuil1!$B$3:$B$6</c:f>
              <c:numCache>
                <c:formatCode>General</c:formatCode>
                <c:ptCount val="4"/>
                <c:pt idx="0">
                  <c:v>86.5</c:v>
                </c:pt>
                <c:pt idx="1">
                  <c:v>86.5</c:v>
                </c:pt>
                <c:pt idx="2">
                  <c:v>86.5</c:v>
                </c:pt>
                <c:pt idx="3">
                  <c:v>86.5</c:v>
                </c:pt>
              </c:numCache>
            </c:numRef>
          </c:val>
          <c:extLst>
            <c:ext xmlns:c16="http://schemas.microsoft.com/office/drawing/2014/chart" uri="{C3380CC4-5D6E-409C-BE32-E72D297353CC}">
              <c16:uniqueId val="{00000000-591A-45C9-8220-45F69F202A05}"/>
            </c:ext>
          </c:extLst>
        </c:ser>
        <c:ser>
          <c:idx val="1"/>
          <c:order val="1"/>
          <c:tx>
            <c:strRef>
              <c:f>Feuil1!$C$2</c:f>
              <c:strCache>
                <c:ptCount val="1"/>
                <c:pt idx="0">
                  <c:v>really done</c:v>
                </c:pt>
              </c:strCache>
            </c:strRef>
          </c:tx>
          <c:spPr>
            <a:solidFill>
              <a:schemeClr val="accent6">
                <a:lumMod val="75000"/>
              </a:schemeClr>
            </a:solidFill>
            <a:ln>
              <a:noFill/>
            </a:ln>
            <a:effectLst/>
          </c:spPr>
          <c:invertIfNegative val="0"/>
          <c:cat>
            <c:strRef>
              <c:f>Feuil1!$A$3:$A$6</c:f>
              <c:strCache>
                <c:ptCount val="4"/>
                <c:pt idx="0">
                  <c:v>April</c:v>
                </c:pt>
                <c:pt idx="1">
                  <c:v>June</c:v>
                </c:pt>
                <c:pt idx="2">
                  <c:v>October</c:v>
                </c:pt>
                <c:pt idx="3">
                  <c:v>December</c:v>
                </c:pt>
              </c:strCache>
            </c:strRef>
          </c:cat>
          <c:val>
            <c:numRef>
              <c:f>Feuil1!$C$3:$C$6</c:f>
              <c:numCache>
                <c:formatCode>General</c:formatCode>
                <c:ptCount val="4"/>
                <c:pt idx="0">
                  <c:v>79.5</c:v>
                </c:pt>
                <c:pt idx="1">
                  <c:v>106.5</c:v>
                </c:pt>
                <c:pt idx="2">
                  <c:v>101.5</c:v>
                </c:pt>
                <c:pt idx="3">
                  <c:v>91.5</c:v>
                </c:pt>
              </c:numCache>
            </c:numRef>
          </c:val>
          <c:extLst>
            <c:ext xmlns:c16="http://schemas.microsoft.com/office/drawing/2014/chart" uri="{C3380CC4-5D6E-409C-BE32-E72D297353CC}">
              <c16:uniqueId val="{00000001-591A-45C9-8220-45F69F202A05}"/>
            </c:ext>
          </c:extLst>
        </c:ser>
        <c:dLbls>
          <c:showLegendKey val="0"/>
          <c:showVal val="0"/>
          <c:showCatName val="0"/>
          <c:showSerName val="0"/>
          <c:showPercent val="0"/>
          <c:showBubbleSize val="0"/>
        </c:dLbls>
        <c:gapWidth val="219"/>
        <c:overlap val="-27"/>
        <c:axId val="1876485743"/>
        <c:axId val="1709058863"/>
      </c:barChart>
      <c:catAx>
        <c:axId val="18764857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09058863"/>
        <c:crosses val="autoZero"/>
        <c:auto val="1"/>
        <c:lblAlgn val="ctr"/>
        <c:lblOffset val="100"/>
        <c:noMultiLvlLbl val="0"/>
      </c:catAx>
      <c:valAx>
        <c:axId val="17090588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day-worker</a:t>
                </a:r>
              </a:p>
            </c:rich>
          </c:tx>
          <c:layout>
            <c:manualLayout>
              <c:xMode val="edge"/>
              <c:yMode val="edge"/>
              <c:x val="6.9444444444444448E-2"/>
              <c:y val="5.1959755030621183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8764857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852894127878985E-2"/>
          <c:y val="0.17171296296296296"/>
          <c:w val="0.80668359502399467"/>
          <c:h val="0.61498432487605714"/>
        </c:manualLayout>
      </c:layout>
      <c:barChart>
        <c:barDir val="col"/>
        <c:grouping val="clustered"/>
        <c:varyColors val="0"/>
        <c:ser>
          <c:idx val="1"/>
          <c:order val="1"/>
          <c:tx>
            <c:strRef>
              <c:f>'[Trap_disturbance 2017_2022.xlsx]Feuil1'!$B$1</c:f>
              <c:strCache>
                <c:ptCount val="1"/>
                <c:pt idx="0">
                  <c:v>% traps disturbance</c:v>
                </c:pt>
              </c:strCache>
            </c:strRef>
          </c:tx>
          <c:spPr>
            <a:solidFill>
              <a:srgbClr val="C00000"/>
            </a:solidFill>
            <a:ln>
              <a:noFill/>
            </a:ln>
            <a:effectLst/>
          </c:spPr>
          <c:invertIfNegative val="0"/>
          <c:cat>
            <c:numRef>
              <c:f>'[Trap_disturbance 2017_2022.xlsx]Feuil1'!$A$2:$A$7</c:f>
              <c:numCache>
                <c:formatCode>General</c:formatCode>
                <c:ptCount val="6"/>
                <c:pt idx="0">
                  <c:v>2017</c:v>
                </c:pt>
                <c:pt idx="1">
                  <c:v>2018</c:v>
                </c:pt>
                <c:pt idx="2">
                  <c:v>2019</c:v>
                </c:pt>
                <c:pt idx="3">
                  <c:v>2020</c:v>
                </c:pt>
                <c:pt idx="4">
                  <c:v>2021</c:v>
                </c:pt>
                <c:pt idx="5">
                  <c:v>2022</c:v>
                </c:pt>
              </c:numCache>
            </c:numRef>
          </c:cat>
          <c:val>
            <c:numRef>
              <c:f>'[Trap_disturbance 2017_2022.xlsx]Feuil1'!$B$2:$B$7</c:f>
              <c:numCache>
                <c:formatCode>General</c:formatCode>
                <c:ptCount val="6"/>
                <c:pt idx="0">
                  <c:v>4.22</c:v>
                </c:pt>
                <c:pt idx="1">
                  <c:v>2.71</c:v>
                </c:pt>
                <c:pt idx="2">
                  <c:v>2.44</c:v>
                </c:pt>
                <c:pt idx="3">
                  <c:v>4.5599999999999996</c:v>
                </c:pt>
                <c:pt idx="4">
                  <c:v>1.59</c:v>
                </c:pt>
                <c:pt idx="5">
                  <c:v>3.61</c:v>
                </c:pt>
              </c:numCache>
            </c:numRef>
          </c:val>
          <c:extLst>
            <c:ext xmlns:c16="http://schemas.microsoft.com/office/drawing/2014/chart" uri="{C3380CC4-5D6E-409C-BE32-E72D297353CC}">
              <c16:uniqueId val="{00000000-B2F3-407D-B473-E4EE1B2939C3}"/>
            </c:ext>
          </c:extLst>
        </c:ser>
        <c:dLbls>
          <c:showLegendKey val="0"/>
          <c:showVal val="0"/>
          <c:showCatName val="0"/>
          <c:showSerName val="0"/>
          <c:showPercent val="0"/>
          <c:showBubbleSize val="0"/>
        </c:dLbls>
        <c:gapWidth val="219"/>
        <c:overlap val="-27"/>
        <c:axId val="407670447"/>
        <c:axId val="407680431"/>
        <c:extLst>
          <c:ext xmlns:c15="http://schemas.microsoft.com/office/drawing/2012/chart" uri="{02D57815-91ED-43cb-92C2-25804820EDAC}">
            <c15:filteredBarSeries>
              <c15:ser>
                <c:idx val="0"/>
                <c:order val="0"/>
                <c:tx>
                  <c:strRef>
                    <c:extLst>
                      <c:ext uri="{02D57815-91ED-43cb-92C2-25804820EDAC}">
                        <c15:formulaRef>
                          <c15:sqref>'[Trap_disturbance 2017_2022.xlsx]Feuil1'!$A$1</c15:sqref>
                        </c15:formulaRef>
                      </c:ext>
                    </c:extLst>
                    <c:strCache>
                      <c:ptCount val="1"/>
                      <c:pt idx="0">
                        <c:v>year</c:v>
                      </c:pt>
                    </c:strCache>
                  </c:strRef>
                </c:tx>
                <c:spPr>
                  <a:solidFill>
                    <a:schemeClr val="accent1"/>
                  </a:solidFill>
                  <a:ln>
                    <a:noFill/>
                  </a:ln>
                  <a:effectLst/>
                </c:spPr>
                <c:invertIfNegative val="0"/>
                <c:cat>
                  <c:numRef>
                    <c:extLst>
                      <c:ext uri="{02D57815-91ED-43cb-92C2-25804820EDAC}">
                        <c15:formulaRef>
                          <c15:sqref>'[Trap_disturbance 2017_2022.xlsx]Feuil1'!$A$2:$A$7</c15:sqref>
                        </c15:formulaRef>
                      </c:ext>
                    </c:extLst>
                    <c:numCache>
                      <c:formatCode>General</c:formatCode>
                      <c:ptCount val="6"/>
                      <c:pt idx="0">
                        <c:v>2017</c:v>
                      </c:pt>
                      <c:pt idx="1">
                        <c:v>2018</c:v>
                      </c:pt>
                      <c:pt idx="2">
                        <c:v>2019</c:v>
                      </c:pt>
                      <c:pt idx="3">
                        <c:v>2020</c:v>
                      </c:pt>
                      <c:pt idx="4">
                        <c:v>2021</c:v>
                      </c:pt>
                      <c:pt idx="5">
                        <c:v>2022</c:v>
                      </c:pt>
                    </c:numCache>
                  </c:numRef>
                </c:cat>
                <c:val>
                  <c:numRef>
                    <c:extLst>
                      <c:ext uri="{02D57815-91ED-43cb-92C2-25804820EDAC}">
                        <c15:formulaRef>
                          <c15:sqref>'[Trap_disturbance 2017_2022.xlsx]Feuil1'!$A$2:$A$6</c15:sqref>
                        </c15:formulaRef>
                      </c:ext>
                    </c:extLst>
                    <c:numCache>
                      <c:formatCode>General</c:formatCode>
                      <c:ptCount val="5"/>
                      <c:pt idx="0">
                        <c:v>2017</c:v>
                      </c:pt>
                      <c:pt idx="1">
                        <c:v>2018</c:v>
                      </c:pt>
                      <c:pt idx="2">
                        <c:v>2019</c:v>
                      </c:pt>
                      <c:pt idx="3">
                        <c:v>2020</c:v>
                      </c:pt>
                      <c:pt idx="4">
                        <c:v>2021</c:v>
                      </c:pt>
                    </c:numCache>
                  </c:numRef>
                </c:val>
                <c:extLst>
                  <c:ext xmlns:c16="http://schemas.microsoft.com/office/drawing/2014/chart" uri="{C3380CC4-5D6E-409C-BE32-E72D297353CC}">
                    <c16:uniqueId val="{00000001-B2F3-407D-B473-E4EE1B2939C3}"/>
                  </c:ext>
                </c:extLst>
              </c15:ser>
            </c15:filteredBarSeries>
          </c:ext>
        </c:extLst>
      </c:barChart>
      <c:catAx>
        <c:axId val="407670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7680431"/>
        <c:crosses val="autoZero"/>
        <c:auto val="1"/>
        <c:lblAlgn val="ctr"/>
        <c:lblOffset val="100"/>
        <c:noMultiLvlLbl val="0"/>
      </c:catAx>
      <c:valAx>
        <c:axId val="4076804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t>
                </a:r>
              </a:p>
            </c:rich>
          </c:tx>
          <c:layout>
            <c:manualLayout>
              <c:xMode val="edge"/>
              <c:yMode val="edge"/>
              <c:x val="1.1166945840312675E-2"/>
              <c:y val="6.6415864683581211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7670447"/>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80583133630035"/>
          <c:y val="0.15870774497218657"/>
          <c:w val="0.6393030354901289"/>
          <c:h val="0.60125984251968512"/>
        </c:manualLayout>
      </c:layout>
      <c:lineChart>
        <c:grouping val="standard"/>
        <c:varyColors val="0"/>
        <c:ser>
          <c:idx val="7"/>
          <c:order val="0"/>
          <c:tx>
            <c:strRef>
              <c:f>Feuil1!$H$1</c:f>
              <c:strCache>
                <c:ptCount val="1"/>
                <c:pt idx="0">
                  <c:v>% samples validated</c:v>
                </c:pt>
              </c:strCache>
            </c:strRef>
          </c:tx>
          <c:spPr>
            <a:ln w="28575" cap="rnd">
              <a:solidFill>
                <a:srgbClr val="00B0F0"/>
              </a:solidFill>
              <a:round/>
            </a:ln>
            <a:effectLst/>
          </c:spPr>
          <c:marker>
            <c:symbol val="none"/>
          </c:marker>
          <c:cat>
            <c:numRef>
              <c:f>Feuil1!$A$2:$A$8</c:f>
              <c:numCache>
                <c:formatCode>General</c:formatCode>
                <c:ptCount val="7"/>
                <c:pt idx="0">
                  <c:v>2015</c:v>
                </c:pt>
                <c:pt idx="1">
                  <c:v>2016</c:v>
                </c:pt>
                <c:pt idx="2">
                  <c:v>2017</c:v>
                </c:pt>
                <c:pt idx="3">
                  <c:v>2018</c:v>
                </c:pt>
                <c:pt idx="4">
                  <c:v>2019</c:v>
                </c:pt>
                <c:pt idx="5">
                  <c:v>2020</c:v>
                </c:pt>
                <c:pt idx="6">
                  <c:v>2021</c:v>
                </c:pt>
              </c:numCache>
            </c:numRef>
          </c:cat>
          <c:val>
            <c:numRef>
              <c:f>Feuil1!$H$2:$H$8</c:f>
              <c:numCache>
                <c:formatCode>0.00</c:formatCode>
                <c:ptCount val="7"/>
                <c:pt idx="0">
                  <c:v>79.666666666666657</c:v>
                </c:pt>
                <c:pt idx="1">
                  <c:v>85.806015545792505</c:v>
                </c:pt>
                <c:pt idx="2">
                  <c:v>88.274547187797907</c:v>
                </c:pt>
                <c:pt idx="3">
                  <c:v>86.52291105121293</c:v>
                </c:pt>
                <c:pt idx="4">
                  <c:v>82.766761095372999</c:v>
                </c:pt>
                <c:pt idx="5">
                  <c:v>87.140733399405363</c:v>
                </c:pt>
                <c:pt idx="6">
                  <c:v>87.353515625</c:v>
                </c:pt>
              </c:numCache>
            </c:numRef>
          </c:val>
          <c:smooth val="0"/>
          <c:extLst>
            <c:ext xmlns:c16="http://schemas.microsoft.com/office/drawing/2014/chart" uri="{C3380CC4-5D6E-409C-BE32-E72D297353CC}">
              <c16:uniqueId val="{00000000-7217-4336-95CF-EAEB7010B754}"/>
            </c:ext>
          </c:extLst>
        </c:ser>
        <c:ser>
          <c:idx val="8"/>
          <c:order val="1"/>
          <c:tx>
            <c:strRef>
              <c:f>Feuil1!$I$1</c:f>
              <c:strCache>
                <c:ptCount val="1"/>
                <c:pt idx="0">
                  <c:v>% samples discarded</c:v>
                </c:pt>
              </c:strCache>
            </c:strRef>
          </c:tx>
          <c:spPr>
            <a:ln w="28575" cap="rnd">
              <a:solidFill>
                <a:srgbClr val="FF0000"/>
              </a:solidFill>
              <a:round/>
            </a:ln>
            <a:effectLst/>
          </c:spPr>
          <c:marker>
            <c:symbol val="none"/>
          </c:marker>
          <c:cat>
            <c:numRef>
              <c:f>Feuil1!$A$2:$A$8</c:f>
              <c:numCache>
                <c:formatCode>General</c:formatCode>
                <c:ptCount val="7"/>
                <c:pt idx="0">
                  <c:v>2015</c:v>
                </c:pt>
                <c:pt idx="1">
                  <c:v>2016</c:v>
                </c:pt>
                <c:pt idx="2">
                  <c:v>2017</c:v>
                </c:pt>
                <c:pt idx="3">
                  <c:v>2018</c:v>
                </c:pt>
                <c:pt idx="4">
                  <c:v>2019</c:v>
                </c:pt>
                <c:pt idx="5">
                  <c:v>2020</c:v>
                </c:pt>
                <c:pt idx="6">
                  <c:v>2021</c:v>
                </c:pt>
              </c:numCache>
            </c:numRef>
          </c:cat>
          <c:val>
            <c:numRef>
              <c:f>Feuil1!$I$2:$I$8</c:f>
              <c:numCache>
                <c:formatCode>0.00</c:formatCode>
                <c:ptCount val="7"/>
                <c:pt idx="0">
                  <c:v>20.333333333333332</c:v>
                </c:pt>
                <c:pt idx="1">
                  <c:v>14.193984454207504</c:v>
                </c:pt>
                <c:pt idx="2">
                  <c:v>11.725452812202096</c:v>
                </c:pt>
                <c:pt idx="3">
                  <c:v>13.477088948787062</c:v>
                </c:pt>
                <c:pt idx="4">
                  <c:v>17.233238904627008</c:v>
                </c:pt>
                <c:pt idx="5">
                  <c:v>12.859266600594649</c:v>
                </c:pt>
                <c:pt idx="6">
                  <c:v>12.646484375</c:v>
                </c:pt>
              </c:numCache>
            </c:numRef>
          </c:val>
          <c:smooth val="0"/>
          <c:extLst>
            <c:ext xmlns:c16="http://schemas.microsoft.com/office/drawing/2014/chart" uri="{C3380CC4-5D6E-409C-BE32-E72D297353CC}">
              <c16:uniqueId val="{00000001-7217-4336-95CF-EAEB7010B754}"/>
            </c:ext>
          </c:extLst>
        </c:ser>
        <c:dLbls>
          <c:showLegendKey val="0"/>
          <c:showVal val="0"/>
          <c:showCatName val="0"/>
          <c:showSerName val="0"/>
          <c:showPercent val="0"/>
          <c:showBubbleSize val="0"/>
        </c:dLbls>
        <c:smooth val="0"/>
        <c:axId val="282678128"/>
        <c:axId val="282676816"/>
        <c:extLst/>
      </c:lineChart>
      <c:catAx>
        <c:axId val="28267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82676816"/>
        <c:crosses val="autoZero"/>
        <c:auto val="1"/>
        <c:lblAlgn val="ctr"/>
        <c:lblOffset val="100"/>
        <c:noMultiLvlLbl val="0"/>
      </c:catAx>
      <c:valAx>
        <c:axId val="282676816"/>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t>
                </a:r>
              </a:p>
            </c:rich>
          </c:tx>
          <c:layout>
            <c:manualLayout>
              <c:xMode val="edge"/>
              <c:yMode val="edge"/>
              <c:x val="8.8888888888888892E-2"/>
              <c:y val="7.3637722368037326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82678128"/>
        <c:crosses val="autoZero"/>
        <c:crossBetween val="between"/>
      </c:valAx>
      <c:spPr>
        <a:noFill/>
        <a:ln>
          <a:noFill/>
        </a:ln>
        <a:effectLst/>
      </c:spPr>
    </c:plotArea>
    <c:legend>
      <c:legendPos val="b"/>
      <c:layout>
        <c:manualLayout>
          <c:xMode val="edge"/>
          <c:yMode val="edge"/>
          <c:x val="9.7921844071816602E-2"/>
          <c:y val="0.8391802768839941"/>
          <c:w val="0.89999999999999991"/>
          <c:h val="6.229279479599934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0651B2D7-6D46-405D-ACDF-BCC0B72FE8F2}" type="datetimeFigureOut">
              <a:rPr lang="fr-FR" smtClean="0"/>
              <a:t>08/07/2025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686E9D26-BE0F-44E5-98BB-739648CFC6E8}" type="slidenum">
              <a:rPr lang="fr-FR" smtClean="0"/>
              <a:t>‹N°›</a:t>
            </a:fld>
            <a:endParaRPr lang="fr-FR"/>
          </a:p>
        </p:txBody>
      </p:sp>
    </p:spTree>
    <p:extLst>
      <p:ext uri="{BB962C8B-B14F-4D97-AF65-F5344CB8AC3E}">
        <p14:creationId xmlns:p14="http://schemas.microsoft.com/office/powerpoint/2010/main" val="3404682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AFFE6B-993C-4CD2-899E-99140B24A3A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FAFFC6C-F7A3-4094-AB93-7DCEBA0847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a:extLst>
              <a:ext uri="{FF2B5EF4-FFF2-40B4-BE49-F238E27FC236}">
                <a16:creationId xmlns:a16="http://schemas.microsoft.com/office/drawing/2014/main" id="{E89AC63E-401B-448A-8632-F5EBD59BAF66}"/>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2518D31A-032D-451D-9244-A115260FEEA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DE4AE9C-FC5C-484F-8C39-2F232BF7DD00}"/>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49046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1D408-20D9-4B3D-B886-00F3D84415C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3AA0E44-2057-4C85-93AF-BFED19DF3661}"/>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37F89A5-57E4-49D5-AD16-1074834B88BC}"/>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7048A3C7-E37A-45EC-8107-9DA3A242839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23F3DD-ABA7-4673-9CA0-AF24E47293D9}"/>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131045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2023DA-6536-46E4-9A53-5EDF4E49D8C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63164BD-AA27-4B87-AE4D-945626BBF5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2995C5C9-70F2-4125-B343-7548D3A9058E}"/>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899B4648-8CB2-42B5-98E8-8A6CA024FD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A6BE30-0472-4BFC-A64D-C727192601C0}"/>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3922977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A63CC1-B243-47B7-9A43-D87DC0CDEAA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BE0371E-82BD-417E-9C09-44D2CB0F213B}"/>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3B06E65-A208-4C27-8B0E-57B2498E5119}"/>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052A967-0F4F-475C-8D9E-40DFC18B0D47}"/>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D6F6426A-0038-490A-98E2-CFFCF6F942C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E372190-4737-4825-9B3C-1B94623CDB23}"/>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2632525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D08801-D20D-4D4A-8BE1-D362F951ED0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C139A45-0D03-453B-BC9F-DD86594DF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48CD7433-947B-46E7-BD41-A43CD6BFDC8A}"/>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91EF9B6-99B0-46FA-BF65-1C55DD4853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AEED2388-439F-42CC-B48D-E64DFF30B99F}"/>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D67ECA3-5F1E-4272-B8FA-7BD939E78500}"/>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8" name="Espace réservé du pied de page 7">
            <a:extLst>
              <a:ext uri="{FF2B5EF4-FFF2-40B4-BE49-F238E27FC236}">
                <a16:creationId xmlns:a16="http://schemas.microsoft.com/office/drawing/2014/main" id="{4329237A-E266-4E67-A514-1E8FC4312FE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320CFBE-1CEF-4711-9367-807849D111CD}"/>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2316220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7ACD5C-1FA5-413B-8798-281349FB58B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F696E5-3688-42DF-96DE-345CCECCEB6B}"/>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4" name="Espace réservé du pied de page 3">
            <a:extLst>
              <a:ext uri="{FF2B5EF4-FFF2-40B4-BE49-F238E27FC236}">
                <a16:creationId xmlns:a16="http://schemas.microsoft.com/office/drawing/2014/main" id="{45164DFD-949B-44CA-A2F6-D92A654BACD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B1F02A4-7DC1-4E55-9E2E-FAA5B0B3D7A7}"/>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326898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8E40A1F-6A98-428A-877B-C56B813DBB80}"/>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3" name="Espace réservé du pied de page 2">
            <a:extLst>
              <a:ext uri="{FF2B5EF4-FFF2-40B4-BE49-F238E27FC236}">
                <a16:creationId xmlns:a16="http://schemas.microsoft.com/office/drawing/2014/main" id="{E7764715-2E74-46CF-9D69-A0090D722DB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79CA748-DD7D-4248-A6E0-94D9326AE236}"/>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2084972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6C5006-B584-4C58-9E32-A3408025D4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CF8D9DD-7211-48D2-96E7-B1BF2DDC55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88254-7226-44B9-B86D-78FDCBB74B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542FBDFB-C4BE-4C96-A34C-CD4C092B781C}"/>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6CD7C53A-485C-471A-80C9-735ABB6CCDC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729BC26-95D2-478C-9DC2-3EE3B335FD89}"/>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2912135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FCB42E-5BD0-4260-8F48-4D5728DA4EB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0FD460D-1196-4999-9269-0B3FB9D18E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9001266-5FB5-448A-8785-81383A23E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DA707D5F-2D31-4688-B98B-1B094598005C}"/>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440C2F5E-C00C-42E3-8544-C0E8EEE9EED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2E76513-62F9-479D-8C65-3794992A2C08}"/>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321142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56369A-A7E3-48A3-BD76-7EDFDA30595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8B4C35E-3EC1-4A37-B8D5-C9A06AC9CFA8}"/>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11B0843-9B8D-40FC-A62F-A4C7384D636F}"/>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92469D6F-760C-4AF8-A13D-162596D5D3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637D55B-1A59-43BD-843F-EEE59428C70B}"/>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402346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4CDF6E1-4C69-4465-BD43-D3957F0F042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2827ABC-3386-4ACF-8BD6-F8E271941C1C}"/>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FA8D7C-638C-4237-BC6A-66BC5B17DFCA}"/>
              </a:ext>
            </a:extLst>
          </p:cNvPr>
          <p:cNvSpPr>
            <a:spLocks noGrp="1"/>
          </p:cNvSpPr>
          <p:nvPr>
            <p:ph type="dt" sz="half" idx="10"/>
          </p:nvPr>
        </p:nvSpPr>
        <p:spPr/>
        <p:txBody>
          <a:body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A64CB6AF-2BC6-4D4F-8E90-1DEFE8AE2C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CF932A-4617-4F46-80B0-2D306A6BD9AE}"/>
              </a:ext>
            </a:extLst>
          </p:cNvPr>
          <p:cNvSpPr>
            <a:spLocks noGrp="1"/>
          </p:cNvSpPr>
          <p:nvPr>
            <p:ph type="sldNum" sz="quarter" idx="12"/>
          </p:nvPr>
        </p:nvSpPr>
        <p:spPr/>
        <p:txBody>
          <a:bodyPr/>
          <a:lstStyle/>
          <a:p>
            <a:fld id="{E84C79F7-528C-43BE-9A2C-1A7609478836}" type="slidenum">
              <a:rPr lang="fr-FR" smtClean="0"/>
              <a:t>‹N°›</a:t>
            </a:fld>
            <a:endParaRPr lang="fr-FR"/>
          </a:p>
        </p:txBody>
      </p:sp>
    </p:spTree>
    <p:extLst>
      <p:ext uri="{BB962C8B-B14F-4D97-AF65-F5344CB8AC3E}">
        <p14:creationId xmlns:p14="http://schemas.microsoft.com/office/powerpoint/2010/main" val="2092087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3284840-2EBD-43EE-8DF4-B86536D0A6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3342577-DEAC-4A49-8D80-E49CEEF68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7E6978D-368F-4A37-9834-D5019C177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EF7FE2-126E-4A40-8DE2-E78764F7E6BD}"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2F4D1CC2-521F-4977-B61B-27F96279ED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315D019-8ED4-44F8-AC13-24056EEBF1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4C79F7-528C-43BE-9A2C-1A7609478836}" type="slidenum">
              <a:rPr lang="fr-FR" smtClean="0"/>
              <a:t>‹N°›</a:t>
            </a:fld>
            <a:endParaRPr lang="fr-FR"/>
          </a:p>
        </p:txBody>
      </p:sp>
    </p:spTree>
    <p:extLst>
      <p:ext uri="{BB962C8B-B14F-4D97-AF65-F5344CB8AC3E}">
        <p14:creationId xmlns:p14="http://schemas.microsoft.com/office/powerpoint/2010/main" val="1897019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3.png"/><Relationship Id="rId3" Type="http://schemas.openxmlformats.org/officeDocument/2006/relationships/image" Target="../media/image6.jpeg"/><Relationship Id="rId7" Type="http://schemas.openxmlformats.org/officeDocument/2006/relationships/image" Target="../media/image10.jpeg"/><Relationship Id="rId12"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png"/><Relationship Id="rId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jpeg"/><Relationship Id="rId5" Type="http://schemas.microsoft.com/office/2007/relationships/hdphoto" Target="../media/hdphoto2.wdp"/><Relationship Id="rId10" Type="http://schemas.openxmlformats.org/officeDocument/2006/relationships/image" Target="../media/image20.jpeg"/><Relationship Id="rId4" Type="http://schemas.openxmlformats.org/officeDocument/2006/relationships/image" Target="../media/image16.png"/><Relationship Id="rId9" Type="http://schemas.openxmlformats.org/officeDocument/2006/relationships/image" Target="../media/image19.jpeg"/></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8777-2E34-4A15-A3E8-50A729447C08}"/>
              </a:ext>
            </a:extLst>
          </p:cNvPr>
          <p:cNvSpPr>
            <a:spLocks noGrp="1"/>
          </p:cNvSpPr>
          <p:nvPr>
            <p:ph type="ctrTitle"/>
          </p:nvPr>
        </p:nvSpPr>
        <p:spPr>
          <a:xfrm>
            <a:off x="1524000" y="1122363"/>
            <a:ext cx="9144000" cy="2387600"/>
          </a:xfrm>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Sous-titre 2">
            <a:extLst>
              <a:ext uri="{FF2B5EF4-FFF2-40B4-BE49-F238E27FC236}">
                <a16:creationId xmlns:a16="http://schemas.microsoft.com/office/drawing/2014/main" id="{3D8033F6-CA9F-4B76-BF16-DC3C3A811D0E}"/>
              </a:ext>
            </a:extLst>
          </p:cNvPr>
          <p:cNvSpPr>
            <a:spLocks noGrp="1"/>
          </p:cNvSpPr>
          <p:nvPr>
            <p:ph type="subTitle" idx="1"/>
          </p:nvPr>
        </p:nvSpPr>
        <p:spPr>
          <a:xfrm>
            <a:off x="1524000" y="3602038"/>
            <a:ext cx="9144000" cy="1655762"/>
          </a:xfrm>
        </p:spPr>
        <p:txBody>
          <a:bodyPr/>
          <a:lstStyle/>
          <a:p>
            <a:r>
              <a:rPr lang="fr-FR" dirty="0">
                <a:solidFill>
                  <a:srgbClr val="120E0C"/>
                </a:solidFill>
                <a:latin typeface="Tahoma" panose="020B0604030504040204" pitchFamily="34" charset="0"/>
                <a:ea typeface="Tahoma" panose="020B0604030504040204" pitchFamily="34" charset="0"/>
                <a:cs typeface="Tahoma" panose="020B0604030504040204" pitchFamily="34" charset="0"/>
              </a:rPr>
              <a:t>Protocol and data</a:t>
            </a:r>
          </a:p>
        </p:txBody>
      </p:sp>
      <p:pic>
        <p:nvPicPr>
          <p:cNvPr id="5" name="Image 4">
            <a:extLst>
              <a:ext uri="{FF2B5EF4-FFF2-40B4-BE49-F238E27FC236}">
                <a16:creationId xmlns:a16="http://schemas.microsoft.com/office/drawing/2014/main" id="{1DFF3BB5-A799-405F-8547-28FEA9279A9C}"/>
              </a:ext>
            </a:extLst>
          </p:cNvPr>
          <p:cNvPicPr>
            <a:picLocks noChangeAspect="1"/>
          </p:cNvPicPr>
          <p:nvPr/>
        </p:nvPicPr>
        <p:blipFill rotWithShape="1">
          <a:blip r:embed="rId2">
            <a:extLst>
              <a:ext uri="{28A0092B-C50C-407E-A947-70E740481C1C}">
                <a14:useLocalDpi xmlns:a14="http://schemas.microsoft.com/office/drawing/2010/main" val="0"/>
              </a:ext>
            </a:extLst>
          </a:blip>
          <a:srcRect l="17848" b="9371"/>
          <a:stretch/>
        </p:blipFill>
        <p:spPr>
          <a:xfrm>
            <a:off x="250166" y="4218317"/>
            <a:ext cx="3809666" cy="2521197"/>
          </a:xfrm>
          <a:prstGeom prst="rect">
            <a:avLst/>
          </a:prstGeom>
        </p:spPr>
      </p:pic>
      <p:sp>
        <p:nvSpPr>
          <p:cNvPr id="4" name="ZoneTexte 3">
            <a:extLst>
              <a:ext uri="{FF2B5EF4-FFF2-40B4-BE49-F238E27FC236}">
                <a16:creationId xmlns:a16="http://schemas.microsoft.com/office/drawing/2014/main" id="{454E5094-1757-BACA-F401-E600805BD3EB}"/>
              </a:ext>
            </a:extLst>
          </p:cNvPr>
          <p:cNvSpPr txBox="1"/>
          <p:nvPr/>
        </p:nvSpPr>
        <p:spPr>
          <a:xfrm>
            <a:off x="9610928" y="5856051"/>
            <a:ext cx="1819072" cy="369332"/>
          </a:xfrm>
          <a:prstGeom prst="rect">
            <a:avLst/>
          </a:prstGeom>
          <a:noFill/>
        </p:spPr>
        <p:txBody>
          <a:bodyPr wrap="square" rtlCol="0">
            <a:spAutoFit/>
          </a:bodyPr>
          <a:lstStyle/>
          <a:p>
            <a:r>
              <a:rPr lang="fr-FR" dirty="0"/>
              <a:t>2025</a:t>
            </a:r>
          </a:p>
        </p:txBody>
      </p:sp>
    </p:spTree>
    <p:extLst>
      <p:ext uri="{BB962C8B-B14F-4D97-AF65-F5344CB8AC3E}">
        <p14:creationId xmlns:p14="http://schemas.microsoft.com/office/powerpoint/2010/main" val="2389417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964C0D9D-56EA-487C-B801-B1AF8B800006}"/>
              </a:ext>
            </a:extLst>
          </p:cNvPr>
          <p:cNvSpPr>
            <a:spLocks noGrp="1"/>
          </p:cNvSpPr>
          <p:nvPr>
            <p:ph idx="1"/>
          </p:nvPr>
        </p:nvSpPr>
        <p:spPr/>
        <p:txBody>
          <a:bodyPr>
            <a:normAutofit/>
          </a:bodyPr>
          <a:lstStyle/>
          <a:p>
            <a:pPr>
              <a:buFont typeface="Wingdings" panose="05000000000000000000" pitchFamily="2" charset="2"/>
              <a:buChar char="§"/>
            </a:pP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Summary</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of the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protocol</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Arthropods</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a:t>
            </a: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2</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au 6">
            <a:extLst>
              <a:ext uri="{FF2B5EF4-FFF2-40B4-BE49-F238E27FC236}">
                <a16:creationId xmlns:a16="http://schemas.microsoft.com/office/drawing/2014/main" id="{077618CD-7BD2-2684-D204-0FC5234460AE}"/>
              </a:ext>
            </a:extLst>
          </p:cNvPr>
          <p:cNvGraphicFramePr>
            <a:graphicFrameLocks noGrp="1"/>
          </p:cNvGraphicFramePr>
          <p:nvPr>
            <p:extLst>
              <p:ext uri="{D42A27DB-BD31-4B8C-83A1-F6EECF244321}">
                <p14:modId xmlns:p14="http://schemas.microsoft.com/office/powerpoint/2010/main" val="406376494"/>
              </p:ext>
            </p:extLst>
          </p:nvPr>
        </p:nvGraphicFramePr>
        <p:xfrm>
          <a:off x="879645" y="3145395"/>
          <a:ext cx="10481725" cy="2706480"/>
        </p:xfrm>
        <a:graphic>
          <a:graphicData uri="http://schemas.openxmlformats.org/drawingml/2006/table">
            <a:tbl>
              <a:tblPr firstRow="1" bandRow="1">
                <a:tableStyleId>{21E4AEA4-8DFA-4A89-87EB-49C32662AFE0}</a:tableStyleId>
              </a:tblPr>
              <a:tblGrid>
                <a:gridCol w="898610">
                  <a:extLst>
                    <a:ext uri="{9D8B030D-6E8A-4147-A177-3AD203B41FA5}">
                      <a16:colId xmlns:a16="http://schemas.microsoft.com/office/drawing/2014/main" val="1487477742"/>
                    </a:ext>
                  </a:extLst>
                </a:gridCol>
                <a:gridCol w="902938">
                  <a:extLst>
                    <a:ext uri="{9D8B030D-6E8A-4147-A177-3AD203B41FA5}">
                      <a16:colId xmlns:a16="http://schemas.microsoft.com/office/drawing/2014/main" val="891602504"/>
                    </a:ext>
                  </a:extLst>
                </a:gridCol>
                <a:gridCol w="595857">
                  <a:extLst>
                    <a:ext uri="{9D8B030D-6E8A-4147-A177-3AD203B41FA5}">
                      <a16:colId xmlns:a16="http://schemas.microsoft.com/office/drawing/2014/main" val="3713099723"/>
                    </a:ext>
                  </a:extLst>
                </a:gridCol>
                <a:gridCol w="940393">
                  <a:extLst>
                    <a:ext uri="{9D8B030D-6E8A-4147-A177-3AD203B41FA5}">
                      <a16:colId xmlns:a16="http://schemas.microsoft.com/office/drawing/2014/main" val="511791046"/>
                    </a:ext>
                  </a:extLst>
                </a:gridCol>
                <a:gridCol w="895298">
                  <a:extLst>
                    <a:ext uri="{9D8B030D-6E8A-4147-A177-3AD203B41FA5}">
                      <a16:colId xmlns:a16="http://schemas.microsoft.com/office/drawing/2014/main" val="633479015"/>
                    </a:ext>
                  </a:extLst>
                </a:gridCol>
                <a:gridCol w="763037">
                  <a:extLst>
                    <a:ext uri="{9D8B030D-6E8A-4147-A177-3AD203B41FA5}">
                      <a16:colId xmlns:a16="http://schemas.microsoft.com/office/drawing/2014/main" val="2462471248"/>
                    </a:ext>
                  </a:extLst>
                </a:gridCol>
                <a:gridCol w="719575">
                  <a:extLst>
                    <a:ext uri="{9D8B030D-6E8A-4147-A177-3AD203B41FA5}">
                      <a16:colId xmlns:a16="http://schemas.microsoft.com/office/drawing/2014/main" val="763592697"/>
                    </a:ext>
                  </a:extLst>
                </a:gridCol>
                <a:gridCol w="786153">
                  <a:extLst>
                    <a:ext uri="{9D8B030D-6E8A-4147-A177-3AD203B41FA5}">
                      <a16:colId xmlns:a16="http://schemas.microsoft.com/office/drawing/2014/main" val="2511877994"/>
                    </a:ext>
                  </a:extLst>
                </a:gridCol>
                <a:gridCol w="896318">
                  <a:extLst>
                    <a:ext uri="{9D8B030D-6E8A-4147-A177-3AD203B41FA5}">
                      <a16:colId xmlns:a16="http://schemas.microsoft.com/office/drawing/2014/main" val="1547242564"/>
                    </a:ext>
                  </a:extLst>
                </a:gridCol>
                <a:gridCol w="1031546">
                  <a:extLst>
                    <a:ext uri="{9D8B030D-6E8A-4147-A177-3AD203B41FA5}">
                      <a16:colId xmlns:a16="http://schemas.microsoft.com/office/drawing/2014/main" val="3711241190"/>
                    </a:ext>
                  </a:extLst>
                </a:gridCol>
                <a:gridCol w="1008000">
                  <a:extLst>
                    <a:ext uri="{9D8B030D-6E8A-4147-A177-3AD203B41FA5}">
                      <a16:colId xmlns:a16="http://schemas.microsoft.com/office/drawing/2014/main" val="2990711370"/>
                    </a:ext>
                  </a:extLst>
                </a:gridCol>
                <a:gridCol w="1044000">
                  <a:extLst>
                    <a:ext uri="{9D8B030D-6E8A-4147-A177-3AD203B41FA5}">
                      <a16:colId xmlns:a16="http://schemas.microsoft.com/office/drawing/2014/main" val="3870743507"/>
                    </a:ext>
                  </a:extLst>
                </a:gridCol>
              </a:tblGrid>
              <a:tr h="587317">
                <a:tc>
                  <a:txBody>
                    <a:bodyPr/>
                    <a:lstStyle/>
                    <a:p>
                      <a:pPr algn="ctr"/>
                      <a:r>
                        <a:rPr lang="fr-FR" dirty="0"/>
                        <a:t>Project</a:t>
                      </a:r>
                    </a:p>
                  </a:txBody>
                  <a:tcPr/>
                </a:tc>
                <a:tc>
                  <a:txBody>
                    <a:bodyPr/>
                    <a:lstStyle/>
                    <a:p>
                      <a:pPr algn="ctr"/>
                      <a:r>
                        <a:rPr lang="fr-FR" dirty="0" err="1"/>
                        <a:t>Study</a:t>
                      </a:r>
                      <a:r>
                        <a:rPr lang="fr-FR" dirty="0"/>
                        <a:t> square</a:t>
                      </a:r>
                    </a:p>
                  </a:txBody>
                  <a:tcPr/>
                </a:tc>
                <a:tc>
                  <a:txBody>
                    <a:bodyPr/>
                    <a:lstStyle/>
                    <a:p>
                      <a:pPr algn="ctr"/>
                      <a:r>
                        <a:rPr lang="fr-FR" dirty="0"/>
                        <a:t>Size Km</a:t>
                      </a:r>
                    </a:p>
                  </a:txBody>
                  <a:tcPr/>
                </a:tc>
                <a:tc>
                  <a:txBody>
                    <a:bodyPr/>
                    <a:lstStyle/>
                    <a:p>
                      <a:pPr algn="ctr"/>
                      <a:r>
                        <a:rPr lang="fr-FR" dirty="0" err="1"/>
                        <a:t>Fenced</a:t>
                      </a:r>
                      <a:r>
                        <a:rPr lang="fr-FR" dirty="0"/>
                        <a:t> area</a:t>
                      </a:r>
                    </a:p>
                  </a:txBody>
                  <a:tcPr/>
                </a:tc>
                <a:tc>
                  <a:txBody>
                    <a:bodyPr/>
                    <a:lstStyle/>
                    <a:p>
                      <a:pPr algn="ctr"/>
                      <a:r>
                        <a:rPr lang="fr-FR" sz="1700" dirty="0"/>
                        <a:t>Habitat area</a:t>
                      </a:r>
                    </a:p>
                  </a:txBody>
                  <a:tcPr/>
                </a:tc>
                <a:tc>
                  <a:txBody>
                    <a:bodyPr/>
                    <a:lstStyle/>
                    <a:p>
                      <a:pPr algn="ctr"/>
                      <a:r>
                        <a:rPr lang="fr-FR" dirty="0" err="1"/>
                        <a:t>Study</a:t>
                      </a:r>
                      <a:r>
                        <a:rPr lang="fr-FR" dirty="0"/>
                        <a:t> sites</a:t>
                      </a:r>
                    </a:p>
                  </a:txBody>
                  <a:tcPr/>
                </a:tc>
                <a:tc>
                  <a:txBody>
                    <a:bodyPr/>
                    <a:lstStyle/>
                    <a:p>
                      <a:pPr algn="ctr"/>
                      <a:r>
                        <a:rPr lang="fr-FR" dirty="0"/>
                        <a:t>Traps</a:t>
                      </a:r>
                    </a:p>
                  </a:txBody>
                  <a:tcPr/>
                </a:tc>
                <a:tc>
                  <a:txBody>
                    <a:bodyPr/>
                    <a:lstStyle/>
                    <a:p>
                      <a:pPr algn="ctr"/>
                      <a:r>
                        <a:rPr lang="fr-FR" dirty="0"/>
                        <a:t>Start date</a:t>
                      </a:r>
                    </a:p>
                  </a:txBody>
                  <a:tcPr/>
                </a:tc>
                <a:tc>
                  <a:txBody>
                    <a:bodyPr/>
                    <a:lstStyle/>
                    <a:p>
                      <a:pPr algn="ctr"/>
                      <a:r>
                        <a:rPr lang="fr-FR" dirty="0" err="1"/>
                        <a:t>Season</a:t>
                      </a:r>
                      <a:endParaRPr lang="fr-FR" dirty="0"/>
                    </a:p>
                  </a:txBody>
                  <a:tcPr/>
                </a:tc>
                <a:tc>
                  <a:txBody>
                    <a:bodyPr/>
                    <a:lstStyle/>
                    <a:p>
                      <a:pPr algn="ctr"/>
                      <a:r>
                        <a:rPr lang="fr-FR" dirty="0"/>
                        <a:t>Habitats</a:t>
                      </a:r>
                    </a:p>
                  </a:txBody>
                  <a:tcPr/>
                </a:tc>
                <a:tc>
                  <a:txBody>
                    <a:bodyPr/>
                    <a:lstStyle/>
                    <a:p>
                      <a:pPr algn="ctr"/>
                      <a:r>
                        <a:rPr lang="fr-FR" dirty="0" err="1"/>
                        <a:t>Samples</a:t>
                      </a:r>
                      <a:r>
                        <a:rPr lang="fr-FR" dirty="0"/>
                        <a:t> / </a:t>
                      </a:r>
                      <a:r>
                        <a:rPr lang="fr-FR" dirty="0" err="1"/>
                        <a:t>year</a:t>
                      </a:r>
                      <a:r>
                        <a:rPr lang="fr-FR" dirty="0"/>
                        <a:t> *</a:t>
                      </a:r>
                      <a:endParaRPr lang="fr-FR" sz="1400" dirty="0"/>
                    </a:p>
                  </a:txBody>
                  <a:tcPr/>
                </a:tc>
                <a:tc>
                  <a:txBody>
                    <a:bodyPr/>
                    <a:lstStyle/>
                    <a:p>
                      <a:pPr algn="ctr"/>
                      <a:r>
                        <a:rPr lang="fr-FR" dirty="0" err="1"/>
                        <a:t>Sampled</a:t>
                      </a:r>
                      <a:r>
                        <a:rPr lang="fr-FR" dirty="0"/>
                        <a:t> surface m</a:t>
                      </a:r>
                      <a:r>
                        <a:rPr lang="fr-FR" baseline="30000" dirty="0"/>
                        <a:t>2</a:t>
                      </a:r>
                    </a:p>
                  </a:txBody>
                  <a:tcPr/>
                </a:tc>
                <a:extLst>
                  <a:ext uri="{0D108BD9-81ED-4DB2-BD59-A6C34878D82A}">
                    <a16:rowId xmlns:a16="http://schemas.microsoft.com/office/drawing/2014/main" val="2645500807"/>
                  </a:ext>
                </a:extLst>
              </a:tr>
              <a:tr h="576000">
                <a:tc>
                  <a:txBody>
                    <a:bodyPr/>
                    <a:lstStyle/>
                    <a:p>
                      <a:pPr algn="ctr"/>
                      <a:r>
                        <a:rPr lang="fr-FR" dirty="0"/>
                        <a:t>ECWP</a:t>
                      </a:r>
                    </a:p>
                  </a:txBody>
                  <a:tcPr anchor="ctr"/>
                </a:tc>
                <a:tc>
                  <a:txBody>
                    <a:bodyPr/>
                    <a:lstStyle/>
                    <a:p>
                      <a:pPr algn="ctr"/>
                      <a:r>
                        <a:rPr lang="fr-FR" dirty="0"/>
                        <a:t>13</a:t>
                      </a:r>
                    </a:p>
                  </a:txBody>
                  <a:tcPr anchor="ctr"/>
                </a:tc>
                <a:tc>
                  <a:txBody>
                    <a:bodyPr/>
                    <a:lstStyle/>
                    <a:p>
                      <a:pPr algn="ctr"/>
                      <a:r>
                        <a:rPr lang="fr-FR" dirty="0"/>
                        <a:t>5x5</a:t>
                      </a:r>
                    </a:p>
                  </a:txBody>
                  <a:tcPr anchor="ctr"/>
                </a:tc>
                <a:tc>
                  <a:txBody>
                    <a:bodyPr/>
                    <a:lstStyle/>
                    <a:p>
                      <a:pPr algn="ctr"/>
                      <a:r>
                        <a:rPr lang="fr-FR" dirty="0"/>
                        <a:t>4</a:t>
                      </a:r>
                    </a:p>
                  </a:txBody>
                  <a:tcPr anchor="ctr"/>
                </a:tc>
                <a:tc>
                  <a:txBody>
                    <a:bodyPr/>
                    <a:lstStyle/>
                    <a:p>
                      <a:pPr algn="ctr"/>
                      <a:r>
                        <a:rPr lang="fr-FR" dirty="0"/>
                        <a:t>8</a:t>
                      </a:r>
                    </a:p>
                  </a:txBody>
                  <a:tcPr anchor="ctr"/>
                </a:tc>
                <a:tc>
                  <a:txBody>
                    <a:bodyPr/>
                    <a:lstStyle/>
                    <a:p>
                      <a:pPr algn="ctr"/>
                      <a:r>
                        <a:rPr lang="fr-FR" dirty="0"/>
                        <a:t>114</a:t>
                      </a:r>
                    </a:p>
                  </a:txBody>
                  <a:tcPr anchor="ctr"/>
                </a:tc>
                <a:tc>
                  <a:txBody>
                    <a:bodyPr/>
                    <a:lstStyle/>
                    <a:p>
                      <a:pPr algn="ctr"/>
                      <a:r>
                        <a:rPr lang="fr-FR" dirty="0"/>
                        <a:t>456</a:t>
                      </a:r>
                    </a:p>
                  </a:txBody>
                  <a:tcPr anchor="ctr"/>
                </a:tc>
                <a:tc>
                  <a:txBody>
                    <a:bodyPr/>
                    <a:lstStyle/>
                    <a:p>
                      <a:pPr algn="ctr"/>
                      <a:r>
                        <a:rPr lang="fr-FR" dirty="0"/>
                        <a:t>17/04/2017</a:t>
                      </a:r>
                    </a:p>
                  </a:txBody>
                  <a:tcPr anchor="ctr"/>
                </a:tc>
                <a:tc>
                  <a:txBody>
                    <a:bodyPr/>
                    <a:lstStyle/>
                    <a:p>
                      <a:pPr algn="ctr"/>
                      <a:r>
                        <a:rPr lang="fr-FR" dirty="0"/>
                        <a:t>4</a:t>
                      </a:r>
                    </a:p>
                  </a:txBody>
                  <a:tcPr anchor="ctr"/>
                </a:tc>
                <a:tc>
                  <a:txBody>
                    <a:bodyPr/>
                    <a:lstStyle/>
                    <a:p>
                      <a:pPr algn="ctr"/>
                      <a:r>
                        <a:rPr lang="fr-FR" dirty="0"/>
                        <a:t>5</a:t>
                      </a:r>
                    </a:p>
                  </a:txBody>
                  <a:tcPr anchor="ctr"/>
                </a:tc>
                <a:tc>
                  <a:txBody>
                    <a:bodyPr/>
                    <a:lstStyle/>
                    <a:p>
                      <a:pPr algn="ctr"/>
                      <a:r>
                        <a:rPr lang="fr-FR" dirty="0"/>
                        <a:t>3648</a:t>
                      </a:r>
                    </a:p>
                  </a:txBody>
                  <a:tcPr anchor="ctr"/>
                </a:tc>
                <a:tc>
                  <a:txBody>
                    <a:bodyPr/>
                    <a:lstStyle/>
                    <a:p>
                      <a:pPr algn="ctr"/>
                      <a:r>
                        <a:rPr lang="fr-FR" dirty="0"/>
                        <a:t>182400</a:t>
                      </a:r>
                    </a:p>
                  </a:txBody>
                  <a:tcPr anchor="ctr"/>
                </a:tc>
                <a:extLst>
                  <a:ext uri="{0D108BD9-81ED-4DB2-BD59-A6C34878D82A}">
                    <a16:rowId xmlns:a16="http://schemas.microsoft.com/office/drawing/2014/main" val="2951805480"/>
                  </a:ext>
                </a:extLst>
              </a:tr>
              <a:tr h="57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dirty="0" err="1"/>
                        <a:t>Eastern</a:t>
                      </a:r>
                      <a:endParaRPr lang="fr-FR"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11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101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404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3232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161600</a:t>
                      </a:r>
                    </a:p>
                  </a:txBody>
                  <a:tcPr anchor="ctr"/>
                </a:tc>
                <a:extLst>
                  <a:ext uri="{0D108BD9-81ED-4DB2-BD59-A6C34878D82A}">
                    <a16:rowId xmlns:a16="http://schemas.microsoft.com/office/drawing/2014/main" val="3041614871"/>
                  </a:ext>
                </a:extLst>
              </a:tr>
              <a:tr h="57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South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13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52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kern="1200" dirty="0">
                        <a:solidFill>
                          <a:schemeClr val="dk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416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kern="1200" dirty="0">
                          <a:solidFill>
                            <a:schemeClr val="dk1"/>
                          </a:solidFill>
                          <a:latin typeface="+mn-lt"/>
                          <a:ea typeface="+mn-ea"/>
                          <a:cs typeface="+mn-cs"/>
                        </a:rPr>
                        <a:t>20800</a:t>
                      </a:r>
                    </a:p>
                  </a:txBody>
                  <a:tcPr anchor="ctr"/>
                </a:tc>
                <a:extLst>
                  <a:ext uri="{0D108BD9-81ED-4DB2-BD59-A6C34878D82A}">
                    <a16:rowId xmlns:a16="http://schemas.microsoft.com/office/drawing/2014/main" val="869857508"/>
                  </a:ext>
                </a:extLst>
              </a:tr>
            </a:tbl>
          </a:graphicData>
        </a:graphic>
      </p:graphicFrame>
      <p:pic>
        <p:nvPicPr>
          <p:cNvPr id="32" name="Image 31">
            <a:extLst>
              <a:ext uri="{FF2B5EF4-FFF2-40B4-BE49-F238E27FC236}">
                <a16:creationId xmlns:a16="http://schemas.microsoft.com/office/drawing/2014/main" id="{7BFBF575-95F5-34F5-E347-D8E60D2203FB}"/>
              </a:ext>
            </a:extLst>
          </p:cNvPr>
          <p:cNvPicPr>
            <a:picLocks noChangeAspect="1"/>
          </p:cNvPicPr>
          <p:nvPr/>
        </p:nvPicPr>
        <p:blipFill>
          <a:blip r:embed="rId3"/>
          <a:stretch>
            <a:fillRect/>
          </a:stretch>
        </p:blipFill>
        <p:spPr>
          <a:xfrm>
            <a:off x="1471609" y="4078878"/>
            <a:ext cx="276708" cy="183116"/>
          </a:xfrm>
          <a:prstGeom prst="rect">
            <a:avLst/>
          </a:prstGeom>
        </p:spPr>
      </p:pic>
      <p:sp>
        <p:nvSpPr>
          <p:cNvPr id="7" name="ZoneTexte 6">
            <a:extLst>
              <a:ext uri="{FF2B5EF4-FFF2-40B4-BE49-F238E27FC236}">
                <a16:creationId xmlns:a16="http://schemas.microsoft.com/office/drawing/2014/main" id="{8F596C70-84EE-E846-5BC8-8687754BFC5D}"/>
              </a:ext>
            </a:extLst>
          </p:cNvPr>
          <p:cNvSpPr txBox="1"/>
          <p:nvPr/>
        </p:nvSpPr>
        <p:spPr>
          <a:xfrm>
            <a:off x="635726" y="6424834"/>
            <a:ext cx="3666308" cy="253916"/>
          </a:xfrm>
          <a:prstGeom prst="rect">
            <a:avLst/>
          </a:prstGeom>
          <a:noFill/>
        </p:spPr>
        <p:txBody>
          <a:bodyPr wrap="square" rtlCol="0">
            <a:spAutoFit/>
          </a:bodyPr>
          <a:lstStyle/>
          <a:p>
            <a:r>
              <a:rPr lang="fr-FR" sz="1050" dirty="0">
                <a:latin typeface="Tahoma" panose="020B0604030504040204" pitchFamily="34" charset="0"/>
                <a:ea typeface="Tahoma" panose="020B0604030504040204" pitchFamily="34" charset="0"/>
                <a:cs typeface="Tahoma" panose="020B0604030504040204" pitchFamily="34" charset="0"/>
              </a:rPr>
              <a:t>* </a:t>
            </a:r>
            <a:r>
              <a:rPr lang="fr-FR" sz="1050" dirty="0" err="1">
                <a:latin typeface="Tahoma" panose="020B0604030504040204" pitchFamily="34" charset="0"/>
                <a:ea typeface="Tahoma" panose="020B0604030504040204" pitchFamily="34" charset="0"/>
                <a:cs typeface="Tahoma" panose="020B0604030504040204" pitchFamily="34" charset="0"/>
              </a:rPr>
              <a:t>Theoretical</a:t>
            </a:r>
            <a:r>
              <a:rPr lang="fr-FR" sz="1050" dirty="0">
                <a:latin typeface="Tahoma" panose="020B0604030504040204" pitchFamily="34" charset="0"/>
                <a:ea typeface="Tahoma" panose="020B0604030504040204" pitchFamily="34" charset="0"/>
                <a:cs typeface="Tahoma" panose="020B0604030504040204" pitchFamily="34" charset="0"/>
              </a:rPr>
              <a:t> figures </a:t>
            </a:r>
            <a:r>
              <a:rPr lang="fr-FR" sz="1050" dirty="0" err="1">
                <a:latin typeface="Tahoma" panose="020B0604030504040204" pitchFamily="34" charset="0"/>
                <a:ea typeface="Tahoma" panose="020B0604030504040204" pitchFamily="34" charset="0"/>
                <a:cs typeface="Tahoma" panose="020B0604030504040204" pitchFamily="34" charset="0"/>
              </a:rPr>
              <a:t>without</a:t>
            </a:r>
            <a:r>
              <a:rPr lang="fr-FR" sz="1050" dirty="0">
                <a:latin typeface="Tahoma" panose="020B0604030504040204" pitchFamily="34" charset="0"/>
                <a:ea typeface="Tahoma" panose="020B0604030504040204" pitchFamily="34" charset="0"/>
                <a:cs typeface="Tahoma" panose="020B0604030504040204" pitchFamily="34" charset="0"/>
              </a:rPr>
              <a:t> </a:t>
            </a:r>
            <a:r>
              <a:rPr lang="fr-FR" sz="1050" dirty="0" err="1">
                <a:latin typeface="Tahoma" panose="020B0604030504040204" pitchFamily="34" charset="0"/>
                <a:ea typeface="Tahoma" panose="020B0604030504040204" pitchFamily="34" charset="0"/>
                <a:cs typeface="Tahoma" panose="020B0604030504040204" pitchFamily="34" charset="0"/>
              </a:rPr>
              <a:t>additional</a:t>
            </a:r>
            <a:r>
              <a:rPr lang="fr-FR" sz="1050" dirty="0">
                <a:latin typeface="Tahoma" panose="020B0604030504040204" pitchFamily="34" charset="0"/>
                <a:ea typeface="Tahoma" panose="020B0604030504040204" pitchFamily="34" charset="0"/>
                <a:cs typeface="Tahoma" panose="020B0604030504040204" pitchFamily="34" charset="0"/>
              </a:rPr>
              <a:t> </a:t>
            </a:r>
            <a:r>
              <a:rPr lang="fr-FR" sz="1050" dirty="0" err="1">
                <a:latin typeface="Tahoma" panose="020B0604030504040204" pitchFamily="34" charset="0"/>
                <a:ea typeface="Tahoma" panose="020B0604030504040204" pitchFamily="34" charset="0"/>
                <a:cs typeface="Tahoma" panose="020B0604030504040204" pitchFamily="34" charset="0"/>
              </a:rPr>
              <a:t>trappings</a:t>
            </a:r>
            <a:endParaRPr lang="fr-FR" sz="1050" dirty="0">
              <a:latin typeface="Tahoma" panose="020B0604030504040204" pitchFamily="34" charset="0"/>
              <a:ea typeface="Tahoma" panose="020B0604030504040204" pitchFamily="34" charset="0"/>
              <a:cs typeface="Tahoma" panose="020B0604030504040204" pitchFamily="34" charset="0"/>
            </a:endParaRPr>
          </a:p>
        </p:txBody>
      </p:sp>
      <p:pic>
        <p:nvPicPr>
          <p:cNvPr id="8" name="Picture 8" descr="Carte-Maroc-Topo-Nord-masque.gif">
            <a:extLst>
              <a:ext uri="{FF2B5EF4-FFF2-40B4-BE49-F238E27FC236}">
                <a16:creationId xmlns:a16="http://schemas.microsoft.com/office/drawing/2014/main" id="{6DC621B0-54C6-8CAE-EC71-91A95B4FDD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6425" y="136525"/>
            <a:ext cx="3359849" cy="29987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Résultat de recherche d'images pour &quot;carte Maroc&quot;">
            <a:extLst>
              <a:ext uri="{FF2B5EF4-FFF2-40B4-BE49-F238E27FC236}">
                <a16:creationId xmlns:a16="http://schemas.microsoft.com/office/drawing/2014/main" id="{B6C3B16C-3C28-302D-4E93-698358EE23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6425" y="185738"/>
            <a:ext cx="776720" cy="837851"/>
          </a:xfrm>
          <a:prstGeom prst="rect">
            <a:avLst/>
          </a:prstGeom>
          <a:noFill/>
          <a:extLst>
            <a:ext uri="{909E8E84-426E-40DD-AFC4-6F175D3DCCD1}">
              <a14:hiddenFill xmlns:a14="http://schemas.microsoft.com/office/drawing/2010/main">
                <a:solidFill>
                  <a:srgbClr val="FFFFFF"/>
                </a:solidFill>
              </a14:hiddenFill>
            </a:ext>
          </a:extLst>
        </p:spPr>
      </p:pic>
      <p:sp>
        <p:nvSpPr>
          <p:cNvPr id="10" name="Ellipse 9">
            <a:extLst>
              <a:ext uri="{FF2B5EF4-FFF2-40B4-BE49-F238E27FC236}">
                <a16:creationId xmlns:a16="http://schemas.microsoft.com/office/drawing/2014/main" id="{51DFAF18-6778-D56C-B716-F1CD80DC0B30}"/>
              </a:ext>
            </a:extLst>
          </p:cNvPr>
          <p:cNvSpPr/>
          <p:nvPr/>
        </p:nvSpPr>
        <p:spPr>
          <a:xfrm rot="19920093">
            <a:off x="9304721" y="2451121"/>
            <a:ext cx="664348" cy="221576"/>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FC06366-B9FD-8CA6-720A-0D9E422661F8}"/>
              </a:ext>
            </a:extLst>
          </p:cNvPr>
          <p:cNvSpPr/>
          <p:nvPr/>
        </p:nvSpPr>
        <p:spPr>
          <a:xfrm>
            <a:off x="10542926" y="852002"/>
            <a:ext cx="912111" cy="705024"/>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79036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4482F207-E1B7-1C43-2441-FF501E6247A9}"/>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CDA052"/>
                </a:solidFill>
                <a:latin typeface="Tahoma" panose="020B0604030504040204" pitchFamily="34" charset="0"/>
                <a:ea typeface="Tahoma" panose="020B0604030504040204" pitchFamily="34" charset="0"/>
                <a:cs typeface="Tahoma" panose="020B0604030504040204" pitchFamily="34" charset="0"/>
              </a:rPr>
              <a:t>Food availability 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5" name="Espace réservé du contenu 2">
            <a:extLst>
              <a:ext uri="{FF2B5EF4-FFF2-40B4-BE49-F238E27FC236}">
                <a16:creationId xmlns:a16="http://schemas.microsoft.com/office/drawing/2014/main" id="{FB879F24-DFDE-A514-29B5-C849EBC04EBA}"/>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Trapping</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design</a:t>
            </a:r>
          </a:p>
        </p:txBody>
      </p:sp>
      <p:grpSp>
        <p:nvGrpSpPr>
          <p:cNvPr id="6" name="Groupe 5">
            <a:extLst>
              <a:ext uri="{FF2B5EF4-FFF2-40B4-BE49-F238E27FC236}">
                <a16:creationId xmlns:a16="http://schemas.microsoft.com/office/drawing/2014/main" id="{AAFC49DC-4D9E-C31B-6DAF-4C13BE433F0A}"/>
              </a:ext>
            </a:extLst>
          </p:cNvPr>
          <p:cNvGrpSpPr/>
          <p:nvPr/>
        </p:nvGrpSpPr>
        <p:grpSpPr>
          <a:xfrm>
            <a:off x="3102802" y="2759845"/>
            <a:ext cx="8098598" cy="3423920"/>
            <a:chOff x="0" y="0"/>
            <a:chExt cx="4192788" cy="1800000"/>
          </a:xfrm>
        </p:grpSpPr>
        <p:sp>
          <p:nvSpPr>
            <p:cNvPr id="7" name="Rectangle 6">
              <a:extLst>
                <a:ext uri="{FF2B5EF4-FFF2-40B4-BE49-F238E27FC236}">
                  <a16:creationId xmlns:a16="http://schemas.microsoft.com/office/drawing/2014/main" id="{E01013BB-7E72-177A-10DA-8E6485B3867C}"/>
                </a:ext>
              </a:extLst>
            </p:cNvPr>
            <p:cNvSpPr/>
            <p:nvPr/>
          </p:nvSpPr>
          <p:spPr>
            <a:xfrm>
              <a:off x="0" y="0"/>
              <a:ext cx="1800000" cy="1800000"/>
            </a:xfrm>
            <a:prstGeom prst="rect">
              <a:avLst/>
            </a:prstGeom>
            <a:solidFill>
              <a:schemeClr val="accent1">
                <a:lumMod val="20000"/>
                <a:lumOff val="80000"/>
              </a:schemeClr>
            </a:solidFill>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nvGrpSpPr>
            <p:cNvPr id="8" name="Groupe 7">
              <a:extLst>
                <a:ext uri="{FF2B5EF4-FFF2-40B4-BE49-F238E27FC236}">
                  <a16:creationId xmlns:a16="http://schemas.microsoft.com/office/drawing/2014/main" id="{53F79976-1330-8185-30E5-022AE3E7DA54}"/>
                </a:ext>
              </a:extLst>
            </p:cNvPr>
            <p:cNvGrpSpPr/>
            <p:nvPr/>
          </p:nvGrpSpPr>
          <p:grpSpPr>
            <a:xfrm>
              <a:off x="254022" y="243577"/>
              <a:ext cx="260609" cy="226058"/>
              <a:chOff x="254022" y="243577"/>
              <a:chExt cx="260609" cy="226058"/>
            </a:xfrm>
          </p:grpSpPr>
          <p:sp>
            <p:nvSpPr>
              <p:cNvPr id="39" name="Rectangle 38">
                <a:extLst>
                  <a:ext uri="{FF2B5EF4-FFF2-40B4-BE49-F238E27FC236}">
                    <a16:creationId xmlns:a16="http://schemas.microsoft.com/office/drawing/2014/main" id="{0EEFF579-6C84-2186-A11D-82D44435DE5B}"/>
                  </a:ext>
                </a:extLst>
              </p:cNvPr>
              <p:cNvSpPr/>
              <p:nvPr/>
            </p:nvSpPr>
            <p:spPr>
              <a:xfrm>
                <a:off x="316969" y="288026"/>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40" name="Organigramme : Connecteur 39">
                <a:extLst>
                  <a:ext uri="{FF2B5EF4-FFF2-40B4-BE49-F238E27FC236}">
                    <a16:creationId xmlns:a16="http://schemas.microsoft.com/office/drawing/2014/main" id="{32E5ACF4-6091-C3FB-2E2B-709A309C0C70}"/>
                  </a:ext>
                </a:extLst>
              </p:cNvPr>
              <p:cNvSpPr/>
              <p:nvPr/>
            </p:nvSpPr>
            <p:spPr>
              <a:xfrm>
                <a:off x="254022" y="246919"/>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41" name="Organigramme : Connecteur 40">
                <a:extLst>
                  <a:ext uri="{FF2B5EF4-FFF2-40B4-BE49-F238E27FC236}">
                    <a16:creationId xmlns:a16="http://schemas.microsoft.com/office/drawing/2014/main" id="{3EB70AC4-8C87-F570-3A5F-5AAA4CD2CB5B}"/>
                  </a:ext>
                </a:extLst>
              </p:cNvPr>
              <p:cNvSpPr/>
              <p:nvPr/>
            </p:nvSpPr>
            <p:spPr>
              <a:xfrm>
                <a:off x="255713" y="433312"/>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42" name="Organigramme : Connecteur 41">
                <a:extLst>
                  <a:ext uri="{FF2B5EF4-FFF2-40B4-BE49-F238E27FC236}">
                    <a16:creationId xmlns:a16="http://schemas.microsoft.com/office/drawing/2014/main" id="{22D638FB-20A6-0F54-7AF6-99FA80E570D6}"/>
                  </a:ext>
                </a:extLst>
              </p:cNvPr>
              <p:cNvSpPr/>
              <p:nvPr/>
            </p:nvSpPr>
            <p:spPr>
              <a:xfrm>
                <a:off x="477590" y="433635"/>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43" name="Organigramme : Connecteur 42">
                <a:extLst>
                  <a:ext uri="{FF2B5EF4-FFF2-40B4-BE49-F238E27FC236}">
                    <a16:creationId xmlns:a16="http://schemas.microsoft.com/office/drawing/2014/main" id="{82369CA8-F683-7604-7078-C7DA4E82F72B}"/>
                  </a:ext>
                </a:extLst>
              </p:cNvPr>
              <p:cNvSpPr/>
              <p:nvPr/>
            </p:nvSpPr>
            <p:spPr>
              <a:xfrm>
                <a:off x="478631" y="243577"/>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grpSp>
          <p:nvGrpSpPr>
            <p:cNvPr id="9" name="Groupe 8">
              <a:extLst>
                <a:ext uri="{FF2B5EF4-FFF2-40B4-BE49-F238E27FC236}">
                  <a16:creationId xmlns:a16="http://schemas.microsoft.com/office/drawing/2014/main" id="{7FC91551-73F6-A5BF-1499-F117C9D5086E}"/>
                </a:ext>
              </a:extLst>
            </p:cNvPr>
            <p:cNvGrpSpPr/>
            <p:nvPr/>
          </p:nvGrpSpPr>
          <p:grpSpPr>
            <a:xfrm>
              <a:off x="769695" y="786971"/>
              <a:ext cx="260609" cy="226058"/>
              <a:chOff x="769695" y="786971"/>
              <a:chExt cx="260609" cy="226058"/>
            </a:xfrm>
          </p:grpSpPr>
          <p:sp>
            <p:nvSpPr>
              <p:cNvPr id="34" name="Rectangle 33">
                <a:extLst>
                  <a:ext uri="{FF2B5EF4-FFF2-40B4-BE49-F238E27FC236}">
                    <a16:creationId xmlns:a16="http://schemas.microsoft.com/office/drawing/2014/main" id="{9D882389-8C69-1A95-1622-757E807BE4F5}"/>
                  </a:ext>
                </a:extLst>
              </p:cNvPr>
              <p:cNvSpPr/>
              <p:nvPr/>
            </p:nvSpPr>
            <p:spPr>
              <a:xfrm>
                <a:off x="832642" y="831420"/>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5" name="Organigramme : Connecteur 34">
                <a:extLst>
                  <a:ext uri="{FF2B5EF4-FFF2-40B4-BE49-F238E27FC236}">
                    <a16:creationId xmlns:a16="http://schemas.microsoft.com/office/drawing/2014/main" id="{B26F9974-A78E-283C-35F9-BB77A78F8E82}"/>
                  </a:ext>
                </a:extLst>
              </p:cNvPr>
              <p:cNvSpPr/>
              <p:nvPr/>
            </p:nvSpPr>
            <p:spPr>
              <a:xfrm>
                <a:off x="769695" y="790313"/>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6" name="Organigramme : Connecteur 35">
                <a:extLst>
                  <a:ext uri="{FF2B5EF4-FFF2-40B4-BE49-F238E27FC236}">
                    <a16:creationId xmlns:a16="http://schemas.microsoft.com/office/drawing/2014/main" id="{FB4BAF9D-680D-38AD-891E-C758CAF3C38A}"/>
                  </a:ext>
                </a:extLst>
              </p:cNvPr>
              <p:cNvSpPr/>
              <p:nvPr/>
            </p:nvSpPr>
            <p:spPr>
              <a:xfrm>
                <a:off x="771386" y="976706"/>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7" name="Organigramme : Connecteur 36">
                <a:extLst>
                  <a:ext uri="{FF2B5EF4-FFF2-40B4-BE49-F238E27FC236}">
                    <a16:creationId xmlns:a16="http://schemas.microsoft.com/office/drawing/2014/main" id="{30CD8998-F340-DD04-2FF4-24EF5DA9AA54}"/>
                  </a:ext>
                </a:extLst>
              </p:cNvPr>
              <p:cNvSpPr/>
              <p:nvPr/>
            </p:nvSpPr>
            <p:spPr>
              <a:xfrm>
                <a:off x="993263" y="977029"/>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8" name="Organigramme : Connecteur 37">
                <a:extLst>
                  <a:ext uri="{FF2B5EF4-FFF2-40B4-BE49-F238E27FC236}">
                    <a16:creationId xmlns:a16="http://schemas.microsoft.com/office/drawing/2014/main" id="{93EF701B-038F-E86F-D312-77D5D302E14E}"/>
                  </a:ext>
                </a:extLst>
              </p:cNvPr>
              <p:cNvSpPr/>
              <p:nvPr/>
            </p:nvSpPr>
            <p:spPr>
              <a:xfrm>
                <a:off x="994304" y="786971"/>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grpSp>
          <p:nvGrpSpPr>
            <p:cNvPr id="10" name="Groupe 9">
              <a:extLst>
                <a:ext uri="{FF2B5EF4-FFF2-40B4-BE49-F238E27FC236}">
                  <a16:creationId xmlns:a16="http://schemas.microsoft.com/office/drawing/2014/main" id="{77E579C5-90F1-1A17-E3D8-73403BF8231C}"/>
                </a:ext>
              </a:extLst>
            </p:cNvPr>
            <p:cNvGrpSpPr/>
            <p:nvPr/>
          </p:nvGrpSpPr>
          <p:grpSpPr>
            <a:xfrm>
              <a:off x="1296144" y="232691"/>
              <a:ext cx="260609" cy="226058"/>
              <a:chOff x="1296144" y="232691"/>
              <a:chExt cx="260609" cy="226058"/>
            </a:xfrm>
          </p:grpSpPr>
          <p:sp>
            <p:nvSpPr>
              <p:cNvPr id="29" name="Rectangle 28">
                <a:extLst>
                  <a:ext uri="{FF2B5EF4-FFF2-40B4-BE49-F238E27FC236}">
                    <a16:creationId xmlns:a16="http://schemas.microsoft.com/office/drawing/2014/main" id="{21A7994A-D26E-B8B0-2331-CC0DBC0AFEA2}"/>
                  </a:ext>
                </a:extLst>
              </p:cNvPr>
              <p:cNvSpPr/>
              <p:nvPr/>
            </p:nvSpPr>
            <p:spPr>
              <a:xfrm>
                <a:off x="1359091" y="277140"/>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0" name="Organigramme : Connecteur 29">
                <a:extLst>
                  <a:ext uri="{FF2B5EF4-FFF2-40B4-BE49-F238E27FC236}">
                    <a16:creationId xmlns:a16="http://schemas.microsoft.com/office/drawing/2014/main" id="{D0655F9C-C0B1-E461-D3C7-08E086127F60}"/>
                  </a:ext>
                </a:extLst>
              </p:cNvPr>
              <p:cNvSpPr/>
              <p:nvPr/>
            </p:nvSpPr>
            <p:spPr>
              <a:xfrm>
                <a:off x="1296144" y="236033"/>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1" name="Organigramme : Connecteur 30">
                <a:extLst>
                  <a:ext uri="{FF2B5EF4-FFF2-40B4-BE49-F238E27FC236}">
                    <a16:creationId xmlns:a16="http://schemas.microsoft.com/office/drawing/2014/main" id="{D1317893-FF35-3725-BA06-B0C8D7C7F544}"/>
                  </a:ext>
                </a:extLst>
              </p:cNvPr>
              <p:cNvSpPr/>
              <p:nvPr/>
            </p:nvSpPr>
            <p:spPr>
              <a:xfrm>
                <a:off x="1297835" y="422426"/>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2" name="Organigramme : Connecteur 31">
                <a:extLst>
                  <a:ext uri="{FF2B5EF4-FFF2-40B4-BE49-F238E27FC236}">
                    <a16:creationId xmlns:a16="http://schemas.microsoft.com/office/drawing/2014/main" id="{F49EDD73-9D03-2EBE-6412-AE56748E7DDE}"/>
                  </a:ext>
                </a:extLst>
              </p:cNvPr>
              <p:cNvSpPr/>
              <p:nvPr/>
            </p:nvSpPr>
            <p:spPr>
              <a:xfrm>
                <a:off x="1519712" y="422749"/>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33" name="Organigramme : Connecteur 32">
                <a:extLst>
                  <a:ext uri="{FF2B5EF4-FFF2-40B4-BE49-F238E27FC236}">
                    <a16:creationId xmlns:a16="http://schemas.microsoft.com/office/drawing/2014/main" id="{B4494DBC-425E-424F-4AF8-2333BDEB5859}"/>
                  </a:ext>
                </a:extLst>
              </p:cNvPr>
              <p:cNvSpPr/>
              <p:nvPr/>
            </p:nvSpPr>
            <p:spPr>
              <a:xfrm>
                <a:off x="1520753" y="232691"/>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grpSp>
          <p:nvGrpSpPr>
            <p:cNvPr id="11" name="Groupe 10">
              <a:extLst>
                <a:ext uri="{FF2B5EF4-FFF2-40B4-BE49-F238E27FC236}">
                  <a16:creationId xmlns:a16="http://schemas.microsoft.com/office/drawing/2014/main" id="{D5FA64AD-2B72-A66E-C5BD-8BCCF3516064}"/>
                </a:ext>
              </a:extLst>
            </p:cNvPr>
            <p:cNvGrpSpPr/>
            <p:nvPr/>
          </p:nvGrpSpPr>
          <p:grpSpPr>
            <a:xfrm>
              <a:off x="288032" y="1323267"/>
              <a:ext cx="260609" cy="226058"/>
              <a:chOff x="288032" y="1323267"/>
              <a:chExt cx="260609" cy="226058"/>
            </a:xfrm>
          </p:grpSpPr>
          <p:sp>
            <p:nvSpPr>
              <p:cNvPr id="24" name="Rectangle 23">
                <a:extLst>
                  <a:ext uri="{FF2B5EF4-FFF2-40B4-BE49-F238E27FC236}">
                    <a16:creationId xmlns:a16="http://schemas.microsoft.com/office/drawing/2014/main" id="{C65E24CA-F631-96C5-FF3A-A6F919F028C9}"/>
                  </a:ext>
                </a:extLst>
              </p:cNvPr>
              <p:cNvSpPr/>
              <p:nvPr/>
            </p:nvSpPr>
            <p:spPr>
              <a:xfrm>
                <a:off x="350979" y="1367716"/>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5" name="Organigramme : Connecteur 24">
                <a:extLst>
                  <a:ext uri="{FF2B5EF4-FFF2-40B4-BE49-F238E27FC236}">
                    <a16:creationId xmlns:a16="http://schemas.microsoft.com/office/drawing/2014/main" id="{5F02C86C-BFC2-3B24-211E-D4B5EEE3B51D}"/>
                  </a:ext>
                </a:extLst>
              </p:cNvPr>
              <p:cNvSpPr/>
              <p:nvPr/>
            </p:nvSpPr>
            <p:spPr>
              <a:xfrm>
                <a:off x="288032" y="1326609"/>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6" name="Organigramme : Connecteur 25">
                <a:extLst>
                  <a:ext uri="{FF2B5EF4-FFF2-40B4-BE49-F238E27FC236}">
                    <a16:creationId xmlns:a16="http://schemas.microsoft.com/office/drawing/2014/main" id="{6DA2DA62-888F-622F-C6DB-0E7BBC12AEDB}"/>
                  </a:ext>
                </a:extLst>
              </p:cNvPr>
              <p:cNvSpPr/>
              <p:nvPr/>
            </p:nvSpPr>
            <p:spPr>
              <a:xfrm>
                <a:off x="289723" y="1513002"/>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7" name="Organigramme : Connecteur 26">
                <a:extLst>
                  <a:ext uri="{FF2B5EF4-FFF2-40B4-BE49-F238E27FC236}">
                    <a16:creationId xmlns:a16="http://schemas.microsoft.com/office/drawing/2014/main" id="{3543990B-5E86-3B86-D04E-C9D31F08CAF6}"/>
                  </a:ext>
                </a:extLst>
              </p:cNvPr>
              <p:cNvSpPr/>
              <p:nvPr/>
            </p:nvSpPr>
            <p:spPr>
              <a:xfrm>
                <a:off x="511600" y="1513325"/>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8" name="Organigramme : Connecteur 27">
                <a:extLst>
                  <a:ext uri="{FF2B5EF4-FFF2-40B4-BE49-F238E27FC236}">
                    <a16:creationId xmlns:a16="http://schemas.microsoft.com/office/drawing/2014/main" id="{A6659611-F08B-1FEC-ABC8-B52DD1462AC7}"/>
                  </a:ext>
                </a:extLst>
              </p:cNvPr>
              <p:cNvSpPr/>
              <p:nvPr/>
            </p:nvSpPr>
            <p:spPr>
              <a:xfrm>
                <a:off x="512641" y="1323267"/>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grpSp>
          <p:nvGrpSpPr>
            <p:cNvPr id="12" name="Groupe 11">
              <a:extLst>
                <a:ext uri="{FF2B5EF4-FFF2-40B4-BE49-F238E27FC236}">
                  <a16:creationId xmlns:a16="http://schemas.microsoft.com/office/drawing/2014/main" id="{43E73556-6363-A0F7-D66E-0242E54D3EA4}"/>
                </a:ext>
              </a:extLst>
            </p:cNvPr>
            <p:cNvGrpSpPr/>
            <p:nvPr/>
          </p:nvGrpSpPr>
          <p:grpSpPr>
            <a:xfrm>
              <a:off x="1296144" y="1301925"/>
              <a:ext cx="260609" cy="226058"/>
              <a:chOff x="1296144" y="1301925"/>
              <a:chExt cx="260609" cy="226058"/>
            </a:xfrm>
          </p:grpSpPr>
          <p:sp>
            <p:nvSpPr>
              <p:cNvPr id="19" name="Rectangle 18">
                <a:extLst>
                  <a:ext uri="{FF2B5EF4-FFF2-40B4-BE49-F238E27FC236}">
                    <a16:creationId xmlns:a16="http://schemas.microsoft.com/office/drawing/2014/main" id="{3A72204A-8329-87FF-953E-2EAF2AF77A39}"/>
                  </a:ext>
                </a:extLst>
              </p:cNvPr>
              <p:cNvSpPr/>
              <p:nvPr/>
            </p:nvSpPr>
            <p:spPr>
              <a:xfrm>
                <a:off x="1359091" y="1346374"/>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0" name="Organigramme : Connecteur 19">
                <a:extLst>
                  <a:ext uri="{FF2B5EF4-FFF2-40B4-BE49-F238E27FC236}">
                    <a16:creationId xmlns:a16="http://schemas.microsoft.com/office/drawing/2014/main" id="{7AC6CE12-6AFF-7DD3-B93D-3CCDEA6673EE}"/>
                  </a:ext>
                </a:extLst>
              </p:cNvPr>
              <p:cNvSpPr/>
              <p:nvPr/>
            </p:nvSpPr>
            <p:spPr>
              <a:xfrm>
                <a:off x="1296144" y="1305267"/>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1" name="Organigramme : Connecteur 20">
                <a:extLst>
                  <a:ext uri="{FF2B5EF4-FFF2-40B4-BE49-F238E27FC236}">
                    <a16:creationId xmlns:a16="http://schemas.microsoft.com/office/drawing/2014/main" id="{AB330F8B-520D-4D8A-5B3F-DE48D7878BDD}"/>
                  </a:ext>
                </a:extLst>
              </p:cNvPr>
              <p:cNvSpPr/>
              <p:nvPr/>
            </p:nvSpPr>
            <p:spPr>
              <a:xfrm>
                <a:off x="1297835" y="1491660"/>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2" name="Organigramme : Connecteur 21">
                <a:extLst>
                  <a:ext uri="{FF2B5EF4-FFF2-40B4-BE49-F238E27FC236}">
                    <a16:creationId xmlns:a16="http://schemas.microsoft.com/office/drawing/2014/main" id="{5BBA187F-D675-0669-8706-16CC42397B9F}"/>
                  </a:ext>
                </a:extLst>
              </p:cNvPr>
              <p:cNvSpPr/>
              <p:nvPr/>
            </p:nvSpPr>
            <p:spPr>
              <a:xfrm>
                <a:off x="1519712" y="1491983"/>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23" name="Organigramme : Connecteur 22">
                <a:extLst>
                  <a:ext uri="{FF2B5EF4-FFF2-40B4-BE49-F238E27FC236}">
                    <a16:creationId xmlns:a16="http://schemas.microsoft.com/office/drawing/2014/main" id="{B0EA8964-14A5-E1E8-DBF1-E45380442BC2}"/>
                  </a:ext>
                </a:extLst>
              </p:cNvPr>
              <p:cNvSpPr/>
              <p:nvPr/>
            </p:nvSpPr>
            <p:spPr>
              <a:xfrm>
                <a:off x="1520753" y="1301925"/>
                <a:ext cx="360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grpSp>
        <p:sp>
          <p:nvSpPr>
            <p:cNvPr id="13" name="Rectangle 12">
              <a:extLst>
                <a:ext uri="{FF2B5EF4-FFF2-40B4-BE49-F238E27FC236}">
                  <a16:creationId xmlns:a16="http://schemas.microsoft.com/office/drawing/2014/main" id="{64033B31-D295-EF71-654D-6548A8C76106}"/>
                </a:ext>
              </a:extLst>
            </p:cNvPr>
            <p:cNvSpPr/>
            <p:nvPr/>
          </p:nvSpPr>
          <p:spPr>
            <a:xfrm>
              <a:off x="2116696" y="75716"/>
              <a:ext cx="144016" cy="129088"/>
            </a:xfrm>
            <a:prstGeom prst="rect">
              <a:avLst/>
            </a:prstGeom>
            <a:solidFill>
              <a:schemeClr val="tx2">
                <a:lumMod val="20000"/>
                <a:lumOff val="80000"/>
              </a:schemeClr>
            </a:solidFill>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14" name="Rectangle 13">
              <a:extLst>
                <a:ext uri="{FF2B5EF4-FFF2-40B4-BE49-F238E27FC236}">
                  <a16:creationId xmlns:a16="http://schemas.microsoft.com/office/drawing/2014/main" id="{88E6B415-5800-B89F-E680-DC99B5DBF989}"/>
                </a:ext>
              </a:extLst>
            </p:cNvPr>
            <p:cNvSpPr/>
            <p:nvPr/>
          </p:nvSpPr>
          <p:spPr>
            <a:xfrm>
              <a:off x="2110680" y="437829"/>
              <a:ext cx="144016" cy="14401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15" name="Organigramme : Connecteur 14">
              <a:extLst>
                <a:ext uri="{FF2B5EF4-FFF2-40B4-BE49-F238E27FC236}">
                  <a16:creationId xmlns:a16="http://schemas.microsoft.com/office/drawing/2014/main" id="{ED16F70B-2310-9B1C-26DA-5BE41CF0080A}"/>
                </a:ext>
              </a:extLst>
            </p:cNvPr>
            <p:cNvSpPr/>
            <p:nvPr/>
          </p:nvSpPr>
          <p:spPr>
            <a:xfrm>
              <a:off x="2169326" y="894999"/>
              <a:ext cx="39600" cy="3600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fr-FR" sz="1200">
                  <a:effectLst/>
                  <a:latin typeface="Times New Roman" panose="02020603050405020304" pitchFamily="18" charset="0"/>
                  <a:ea typeface="Times New Roman" panose="02020603050405020304" pitchFamily="18" charset="0"/>
                </a:rPr>
                <a:t> </a:t>
              </a:r>
            </a:p>
          </p:txBody>
        </p:sp>
        <p:sp>
          <p:nvSpPr>
            <p:cNvPr id="16" name="ZoneTexte 45">
              <a:extLst>
                <a:ext uri="{FF2B5EF4-FFF2-40B4-BE49-F238E27FC236}">
                  <a16:creationId xmlns:a16="http://schemas.microsoft.com/office/drawing/2014/main" id="{D8D5D155-0B22-DF70-CD69-DDF0711EAE39}"/>
                </a:ext>
              </a:extLst>
            </p:cNvPr>
            <p:cNvSpPr txBox="1"/>
            <p:nvPr/>
          </p:nvSpPr>
          <p:spPr>
            <a:xfrm>
              <a:off x="2376225" y="49887"/>
              <a:ext cx="1800225" cy="177982"/>
            </a:xfrm>
            <a:prstGeom prst="rect">
              <a:avLst/>
            </a:prstGeom>
            <a:noFill/>
          </p:spPr>
          <p:txBody>
            <a:bodyPr wrap="square" rtlCol="0">
              <a:spAutoFit/>
            </a:bodyPr>
            <a:lstStyle/>
            <a:p>
              <a:pPr>
                <a:buNone/>
              </a:pPr>
              <a:r>
                <a:rPr lang="fr-FR" sz="1600" kern="12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Study</a:t>
              </a:r>
              <a:r>
                <a:rPr lang="fr-FR" sz="16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square 5x5 km</a:t>
              </a:r>
              <a:endParaRPr lang="fr-FR"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7" name="ZoneTexte 46">
              <a:extLst>
                <a:ext uri="{FF2B5EF4-FFF2-40B4-BE49-F238E27FC236}">
                  <a16:creationId xmlns:a16="http://schemas.microsoft.com/office/drawing/2014/main" id="{71853537-6766-DE2B-2E36-24E6173CBC48}"/>
                </a:ext>
              </a:extLst>
            </p:cNvPr>
            <p:cNvSpPr txBox="1"/>
            <p:nvPr/>
          </p:nvSpPr>
          <p:spPr>
            <a:xfrm>
              <a:off x="2392563" y="436223"/>
              <a:ext cx="1800225" cy="177982"/>
            </a:xfrm>
            <a:prstGeom prst="rect">
              <a:avLst/>
            </a:prstGeom>
            <a:noFill/>
          </p:spPr>
          <p:txBody>
            <a:bodyPr wrap="square" rtlCol="0">
              <a:spAutoFit/>
            </a:bodyPr>
            <a:lstStyle/>
            <a:p>
              <a:pPr>
                <a:buNone/>
              </a:pPr>
              <a:r>
                <a:rPr lang="fr-FR" sz="16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Study</a:t>
              </a:r>
              <a:r>
                <a:rPr lang="fr-F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site </a:t>
              </a:r>
              <a:r>
                <a:rPr lang="fr-FR" sz="16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40x40m</a:t>
              </a:r>
              <a:endParaRPr lang="fr-FR"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8" name="ZoneTexte 47">
              <a:extLst>
                <a:ext uri="{FF2B5EF4-FFF2-40B4-BE49-F238E27FC236}">
                  <a16:creationId xmlns:a16="http://schemas.microsoft.com/office/drawing/2014/main" id="{0F0495DE-5258-DB3F-2505-EDDC2101A97B}"/>
                </a:ext>
              </a:extLst>
            </p:cNvPr>
            <p:cNvSpPr txBox="1"/>
            <p:nvPr/>
          </p:nvSpPr>
          <p:spPr>
            <a:xfrm>
              <a:off x="2376225" y="822559"/>
              <a:ext cx="1800225" cy="177982"/>
            </a:xfrm>
            <a:prstGeom prst="rect">
              <a:avLst/>
            </a:prstGeom>
            <a:noFill/>
          </p:spPr>
          <p:txBody>
            <a:bodyPr wrap="square" rtlCol="0">
              <a:spAutoFit/>
            </a:bodyPr>
            <a:lstStyle/>
            <a:p>
              <a:pPr>
                <a:buNone/>
              </a:pPr>
              <a:r>
                <a:rPr lang="fr-FR" sz="1600" kern="12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Pitfall</a:t>
              </a:r>
              <a:r>
                <a:rPr lang="fr-FR" sz="16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trap</a:t>
              </a:r>
              <a:endParaRPr lang="fr-FR" sz="1600" dirty="0">
                <a:effectLst/>
                <a:latin typeface="Arial" panose="020B0604020202020204" pitchFamily="34" charset="0"/>
                <a:ea typeface="Times New Roman" panose="02020603050405020304" pitchFamily="18" charset="0"/>
                <a:cs typeface="Arial" panose="020B0604020202020204" pitchFamily="34" charset="0"/>
              </a:endParaRPr>
            </a:p>
          </p:txBody>
        </p:sp>
      </p:grpSp>
    </p:spTree>
    <p:extLst>
      <p:ext uri="{BB962C8B-B14F-4D97-AF65-F5344CB8AC3E}">
        <p14:creationId xmlns:p14="http://schemas.microsoft.com/office/powerpoint/2010/main" val="2183124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964C0D9D-56EA-487C-B801-B1AF8B800006}"/>
              </a:ext>
            </a:extLst>
          </p:cNvPr>
          <p:cNvSpPr>
            <a:spLocks noGrp="1"/>
          </p:cNvSpPr>
          <p:nvPr>
            <p:ph idx="1"/>
          </p:nvPr>
        </p:nvSpPr>
        <p:spPr/>
        <p:txBody>
          <a:bodyPr>
            <a:normAutofit/>
          </a:body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Fractions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sorted</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out</a:t>
            </a: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4</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e 50">
            <a:extLst>
              <a:ext uri="{FF2B5EF4-FFF2-40B4-BE49-F238E27FC236}">
                <a16:creationId xmlns:a16="http://schemas.microsoft.com/office/drawing/2014/main" id="{68E04681-D8B6-214C-A0CF-CA286D4ADB61}"/>
              </a:ext>
            </a:extLst>
          </p:cNvPr>
          <p:cNvGrpSpPr/>
          <p:nvPr/>
        </p:nvGrpSpPr>
        <p:grpSpPr>
          <a:xfrm>
            <a:off x="4207559" y="3378624"/>
            <a:ext cx="1392660" cy="970363"/>
            <a:chOff x="5844699" y="2286691"/>
            <a:chExt cx="1226639" cy="875978"/>
          </a:xfrm>
        </p:grpSpPr>
        <p:pic>
          <p:nvPicPr>
            <p:cNvPr id="27" name="Image 26">
              <a:extLst>
                <a:ext uri="{FF2B5EF4-FFF2-40B4-BE49-F238E27FC236}">
                  <a16:creationId xmlns:a16="http://schemas.microsoft.com/office/drawing/2014/main" id="{446FF699-87D9-6204-5CBF-CD15C993A154}"/>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454916" y="2359616"/>
              <a:ext cx="526856" cy="341007"/>
            </a:xfrm>
            <a:prstGeom prst="rect">
              <a:avLst/>
            </a:prstGeom>
          </p:spPr>
        </p:pic>
        <p:pic>
          <p:nvPicPr>
            <p:cNvPr id="28" name="Image 27">
              <a:extLst>
                <a:ext uri="{FF2B5EF4-FFF2-40B4-BE49-F238E27FC236}">
                  <a16:creationId xmlns:a16="http://schemas.microsoft.com/office/drawing/2014/main" id="{D5B4503F-4DDB-2F1B-5638-2FD7D41D95E1}"/>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542561" y="2681203"/>
              <a:ext cx="287283" cy="470956"/>
            </a:xfrm>
            <a:prstGeom prst="rect">
              <a:avLst/>
            </a:prstGeom>
          </p:spPr>
        </p:pic>
        <p:pic>
          <p:nvPicPr>
            <p:cNvPr id="47" name="Image 46">
              <a:extLst>
                <a:ext uri="{FF2B5EF4-FFF2-40B4-BE49-F238E27FC236}">
                  <a16:creationId xmlns:a16="http://schemas.microsoft.com/office/drawing/2014/main" id="{03EE78A3-AC86-8598-6C22-65186F55488C}"/>
                </a:ext>
              </a:extLst>
            </p:cNvPr>
            <p:cNvPicPr>
              <a:picLocks noChangeAspect="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rot="5400000">
              <a:off x="5950048" y="2211586"/>
              <a:ext cx="386252" cy="536461"/>
            </a:xfrm>
            <a:prstGeom prst="rect">
              <a:avLst/>
            </a:prstGeom>
          </p:spPr>
        </p:pic>
        <p:pic>
          <p:nvPicPr>
            <p:cNvPr id="48" name="Image 47">
              <a:extLst>
                <a:ext uri="{FF2B5EF4-FFF2-40B4-BE49-F238E27FC236}">
                  <a16:creationId xmlns:a16="http://schemas.microsoft.com/office/drawing/2014/main" id="{0A9F7CF9-B8F4-E74D-0EB8-3B3366167093}"/>
                </a:ext>
              </a:extLst>
            </p:cNvPr>
            <p:cNvPicPr>
              <a:picLocks noChangeAspect="1"/>
            </p:cNvPicPr>
            <p:nvPr/>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844699" y="2692151"/>
              <a:ext cx="340903" cy="454538"/>
            </a:xfrm>
            <a:prstGeom prst="rect">
              <a:avLst/>
            </a:prstGeom>
          </p:spPr>
        </p:pic>
        <p:pic>
          <p:nvPicPr>
            <p:cNvPr id="49" name="Image 48">
              <a:extLst>
                <a:ext uri="{FF2B5EF4-FFF2-40B4-BE49-F238E27FC236}">
                  <a16:creationId xmlns:a16="http://schemas.microsoft.com/office/drawing/2014/main" id="{4036258A-1C79-4686-E8F1-F630B4755EAC}"/>
                </a:ext>
              </a:extLst>
            </p:cNvPr>
            <p:cNvPicPr>
              <a:picLocks noChangeAspect="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832497" y="2633053"/>
              <a:ext cx="238841" cy="370296"/>
            </a:xfrm>
            <a:prstGeom prst="rect">
              <a:avLst/>
            </a:prstGeom>
          </p:spPr>
        </p:pic>
        <p:pic>
          <p:nvPicPr>
            <p:cNvPr id="50" name="Image 49">
              <a:extLst>
                <a:ext uri="{FF2B5EF4-FFF2-40B4-BE49-F238E27FC236}">
                  <a16:creationId xmlns:a16="http://schemas.microsoft.com/office/drawing/2014/main" id="{24E4CC1F-E494-B211-A23A-6AFEC18EBF65}"/>
                </a:ext>
              </a:extLst>
            </p:cNvPr>
            <p:cNvPicPr>
              <a:picLocks noChangeAspect="1"/>
            </p:cNvPicPr>
            <p:nvPr/>
          </p:nvPicPr>
          <p:blipFill>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197456" y="2682581"/>
              <a:ext cx="313257" cy="480088"/>
            </a:xfrm>
            <a:prstGeom prst="rect">
              <a:avLst/>
            </a:prstGeom>
          </p:spPr>
        </p:pic>
      </p:grpSp>
      <p:pic>
        <p:nvPicPr>
          <p:cNvPr id="62" name="Image 61">
            <a:extLst>
              <a:ext uri="{FF2B5EF4-FFF2-40B4-BE49-F238E27FC236}">
                <a16:creationId xmlns:a16="http://schemas.microsoft.com/office/drawing/2014/main" id="{28A09FFE-2210-B2A7-0F00-1F338350AE3B}"/>
              </a:ext>
            </a:extLst>
          </p:cNvPr>
          <p:cNvPicPr>
            <a:picLocks noChangeAspect="1"/>
          </p:cNvPicPr>
          <p:nvPr/>
        </p:nvPicPr>
        <p:blipFill>
          <a:blip r:embed="rId9"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83790" y="3590110"/>
            <a:ext cx="1076209" cy="605260"/>
          </a:xfrm>
          <a:prstGeom prst="rect">
            <a:avLst/>
          </a:prstGeom>
        </p:spPr>
      </p:pic>
      <p:pic>
        <p:nvPicPr>
          <p:cNvPr id="63" name="Image 62">
            <a:extLst>
              <a:ext uri="{FF2B5EF4-FFF2-40B4-BE49-F238E27FC236}">
                <a16:creationId xmlns:a16="http://schemas.microsoft.com/office/drawing/2014/main" id="{105DFEFB-77D8-A7CA-71A4-85D38C3A22D9}"/>
              </a:ext>
            </a:extLst>
          </p:cNvPr>
          <p:cNvPicPr>
            <a:picLocks noChangeAspect="1"/>
          </p:cNvPicPr>
          <p:nvPr/>
        </p:nvPicPr>
        <p:blipFill>
          <a:blip r:embed="rId10"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599623" y="3548290"/>
            <a:ext cx="897858" cy="495042"/>
          </a:xfrm>
          <a:prstGeom prst="rect">
            <a:avLst/>
          </a:prstGeom>
        </p:spPr>
      </p:pic>
      <p:sp>
        <p:nvSpPr>
          <p:cNvPr id="66" name="ZoneTexte 65">
            <a:extLst>
              <a:ext uri="{FF2B5EF4-FFF2-40B4-BE49-F238E27FC236}">
                <a16:creationId xmlns:a16="http://schemas.microsoft.com/office/drawing/2014/main" id="{494050E9-7632-9811-9C99-167BE408A9E7}"/>
              </a:ext>
            </a:extLst>
          </p:cNvPr>
          <p:cNvSpPr txBox="1"/>
          <p:nvPr/>
        </p:nvSpPr>
        <p:spPr>
          <a:xfrm>
            <a:off x="2530293" y="2736492"/>
            <a:ext cx="879012" cy="369332"/>
          </a:xfrm>
          <a:prstGeom prst="rect">
            <a:avLst/>
          </a:prstGeom>
          <a:noFill/>
        </p:spPr>
        <p:txBody>
          <a:bodyPr wrap="square" rtlCol="0">
            <a:spAutoFit/>
          </a:bodyPr>
          <a:lstStyle/>
          <a:p>
            <a:r>
              <a:rPr lang="fr-FR" dirty="0" err="1"/>
              <a:t>Messor</a:t>
            </a:r>
            <a:endParaRPr lang="fr-FR" dirty="0"/>
          </a:p>
        </p:txBody>
      </p:sp>
      <p:sp>
        <p:nvSpPr>
          <p:cNvPr id="67" name="ZoneTexte 66">
            <a:extLst>
              <a:ext uri="{FF2B5EF4-FFF2-40B4-BE49-F238E27FC236}">
                <a16:creationId xmlns:a16="http://schemas.microsoft.com/office/drawing/2014/main" id="{AA45D76C-0214-80C6-8C92-0D02F9DA4099}"/>
              </a:ext>
            </a:extLst>
          </p:cNvPr>
          <p:cNvSpPr txBox="1"/>
          <p:nvPr/>
        </p:nvSpPr>
        <p:spPr>
          <a:xfrm>
            <a:off x="5211719" y="5917658"/>
            <a:ext cx="1515226" cy="369332"/>
          </a:xfrm>
          <a:prstGeom prst="rect">
            <a:avLst/>
          </a:prstGeom>
          <a:noFill/>
        </p:spPr>
        <p:txBody>
          <a:bodyPr wrap="square" rtlCol="0">
            <a:spAutoFit/>
          </a:bodyPr>
          <a:lstStyle/>
          <a:p>
            <a:r>
              <a:rPr lang="fr-FR" dirty="0" err="1"/>
              <a:t>Tenebrionidae</a:t>
            </a:r>
            <a:endParaRPr lang="fr-FR" dirty="0"/>
          </a:p>
        </p:txBody>
      </p:sp>
      <p:sp>
        <p:nvSpPr>
          <p:cNvPr id="68" name="ZoneTexte 67">
            <a:extLst>
              <a:ext uri="{FF2B5EF4-FFF2-40B4-BE49-F238E27FC236}">
                <a16:creationId xmlns:a16="http://schemas.microsoft.com/office/drawing/2014/main" id="{623BBE41-3070-A7C8-215F-5AF32B4FD3E5}"/>
              </a:ext>
            </a:extLst>
          </p:cNvPr>
          <p:cNvSpPr txBox="1"/>
          <p:nvPr/>
        </p:nvSpPr>
        <p:spPr>
          <a:xfrm>
            <a:off x="4076179" y="2600971"/>
            <a:ext cx="1515226" cy="646331"/>
          </a:xfrm>
          <a:prstGeom prst="rect">
            <a:avLst/>
          </a:prstGeom>
          <a:noFill/>
        </p:spPr>
        <p:txBody>
          <a:bodyPr wrap="square" rtlCol="0">
            <a:spAutoFit/>
          </a:bodyPr>
          <a:lstStyle/>
          <a:p>
            <a:pPr algn="ctr"/>
            <a:r>
              <a:rPr lang="fr-FR" dirty="0" err="1"/>
              <a:t>Tenebrionidae</a:t>
            </a:r>
            <a:endParaRPr lang="fr-FR" dirty="0"/>
          </a:p>
          <a:p>
            <a:pPr algn="ctr"/>
            <a:r>
              <a:rPr lang="fr-FR" dirty="0" err="1"/>
              <a:t>Houbara</a:t>
            </a:r>
            <a:r>
              <a:rPr lang="fr-FR" dirty="0"/>
              <a:t> </a:t>
            </a:r>
            <a:r>
              <a:rPr lang="fr-FR" dirty="0" err="1"/>
              <a:t>diet</a:t>
            </a:r>
            <a:endParaRPr lang="fr-FR" dirty="0"/>
          </a:p>
        </p:txBody>
      </p:sp>
      <p:sp>
        <p:nvSpPr>
          <p:cNvPr id="69" name="ZoneTexte 68">
            <a:extLst>
              <a:ext uri="{FF2B5EF4-FFF2-40B4-BE49-F238E27FC236}">
                <a16:creationId xmlns:a16="http://schemas.microsoft.com/office/drawing/2014/main" id="{BB7905E6-9FB5-476B-9DC0-15081165D269}"/>
              </a:ext>
            </a:extLst>
          </p:cNvPr>
          <p:cNvSpPr txBox="1"/>
          <p:nvPr/>
        </p:nvSpPr>
        <p:spPr>
          <a:xfrm>
            <a:off x="8610600" y="2615195"/>
            <a:ext cx="879012" cy="369332"/>
          </a:xfrm>
          <a:prstGeom prst="rect">
            <a:avLst/>
          </a:prstGeom>
          <a:noFill/>
        </p:spPr>
        <p:txBody>
          <a:bodyPr wrap="square" rtlCol="0">
            <a:spAutoFit/>
          </a:bodyPr>
          <a:lstStyle/>
          <a:p>
            <a:r>
              <a:rPr lang="fr-FR" dirty="0" err="1"/>
              <a:t>Other</a:t>
            </a:r>
            <a:endParaRPr lang="fr-FR" dirty="0"/>
          </a:p>
        </p:txBody>
      </p:sp>
      <p:pic>
        <p:nvPicPr>
          <p:cNvPr id="73" name="Image 72" descr="Une image contenant vaisselle, intérieur&#10;&#10;Description générée automatiquement">
            <a:extLst>
              <a:ext uri="{FF2B5EF4-FFF2-40B4-BE49-F238E27FC236}">
                <a16:creationId xmlns:a16="http://schemas.microsoft.com/office/drawing/2014/main" id="{15D0DDF9-6FB6-C0E4-6CDD-D4B04D703E90}"/>
              </a:ext>
            </a:extLst>
          </p:cNvPr>
          <p:cNvPicPr>
            <a:picLocks noChangeAspect="1"/>
          </p:cNvPicPr>
          <p:nvPr/>
        </p:nvPicPr>
        <p:blipFill rotWithShape="1">
          <a:blip r:embed="rId11" cstate="screen">
            <a:clrChange>
              <a:clrFrom>
                <a:srgbClr val="FFFFFF"/>
              </a:clrFrom>
              <a:clrTo>
                <a:srgbClr val="FFFFFF">
                  <a:alpha val="0"/>
                </a:srgbClr>
              </a:clrTo>
            </a:clrChange>
            <a:extLst>
              <a:ext uri="{BEBA8EAE-BF5A-486C-A8C5-ECC9F3942E4B}">
                <a14:imgProps xmlns:a14="http://schemas.microsoft.com/office/drawing/2010/main">
                  <a14:imgLayer r:embed="rId12">
                    <a14:imgEffect>
                      <a14:sharpenSoften amount="25000"/>
                    </a14:imgEffect>
                    <a14:imgEffect>
                      <a14:brightnessContrast bright="40000" contrast="-40000"/>
                    </a14:imgEffect>
                  </a14:imgLayer>
                </a14:imgProps>
              </a:ext>
              <a:ext uri="{28A0092B-C50C-407E-A947-70E740481C1C}">
                <a14:useLocalDpi xmlns:a14="http://schemas.microsoft.com/office/drawing/2010/main"/>
              </a:ext>
            </a:extLst>
          </a:blip>
          <a:srcRect/>
          <a:stretch/>
        </p:blipFill>
        <p:spPr>
          <a:xfrm>
            <a:off x="8401410" y="3394546"/>
            <a:ext cx="1201583" cy="789400"/>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7" name="ZoneTexte 76">
            <a:extLst>
              <a:ext uri="{FF2B5EF4-FFF2-40B4-BE49-F238E27FC236}">
                <a16:creationId xmlns:a16="http://schemas.microsoft.com/office/drawing/2014/main" id="{E00DDD86-3037-4020-C628-22BD02F1E3B4}"/>
              </a:ext>
            </a:extLst>
          </p:cNvPr>
          <p:cNvSpPr txBox="1"/>
          <p:nvPr/>
        </p:nvSpPr>
        <p:spPr>
          <a:xfrm>
            <a:off x="9982200" y="2613650"/>
            <a:ext cx="1579521" cy="369332"/>
          </a:xfrm>
          <a:prstGeom prst="rect">
            <a:avLst/>
          </a:prstGeom>
          <a:noFill/>
        </p:spPr>
        <p:txBody>
          <a:bodyPr wrap="square" rtlCol="0">
            <a:spAutoFit/>
          </a:bodyPr>
          <a:lstStyle/>
          <a:p>
            <a:r>
              <a:rPr lang="fr-FR" dirty="0"/>
              <a:t>Total fractions</a:t>
            </a:r>
          </a:p>
        </p:txBody>
      </p:sp>
      <p:sp>
        <p:nvSpPr>
          <p:cNvPr id="78" name="ZoneTexte 77">
            <a:extLst>
              <a:ext uri="{FF2B5EF4-FFF2-40B4-BE49-F238E27FC236}">
                <a16:creationId xmlns:a16="http://schemas.microsoft.com/office/drawing/2014/main" id="{76F227C5-A7D7-1D70-4D9A-B3250015A662}"/>
              </a:ext>
            </a:extLst>
          </p:cNvPr>
          <p:cNvSpPr txBox="1"/>
          <p:nvPr/>
        </p:nvSpPr>
        <p:spPr>
          <a:xfrm>
            <a:off x="10578912" y="3643641"/>
            <a:ext cx="371305" cy="369332"/>
          </a:xfrm>
          <a:prstGeom prst="rect">
            <a:avLst/>
          </a:prstGeom>
          <a:noFill/>
        </p:spPr>
        <p:txBody>
          <a:bodyPr wrap="square" rtlCol="0">
            <a:spAutoFit/>
          </a:bodyPr>
          <a:lstStyle/>
          <a:p>
            <a:r>
              <a:rPr lang="fr-FR" dirty="0"/>
              <a:t>4</a:t>
            </a:r>
          </a:p>
        </p:txBody>
      </p:sp>
      <p:grpSp>
        <p:nvGrpSpPr>
          <p:cNvPr id="5" name="Groupe 4">
            <a:extLst>
              <a:ext uri="{FF2B5EF4-FFF2-40B4-BE49-F238E27FC236}">
                <a16:creationId xmlns:a16="http://schemas.microsoft.com/office/drawing/2014/main" id="{D0E10D91-D2BA-2280-DDDB-B0B65A154DA6}"/>
              </a:ext>
            </a:extLst>
          </p:cNvPr>
          <p:cNvGrpSpPr/>
          <p:nvPr/>
        </p:nvGrpSpPr>
        <p:grpSpPr>
          <a:xfrm>
            <a:off x="546243" y="3494474"/>
            <a:ext cx="1049105" cy="369332"/>
            <a:chOff x="205130" y="2797129"/>
            <a:chExt cx="1049105" cy="369332"/>
          </a:xfrm>
        </p:grpSpPr>
        <p:sp>
          <p:nvSpPr>
            <p:cNvPr id="7" name="ZoneTexte 6">
              <a:extLst>
                <a:ext uri="{FF2B5EF4-FFF2-40B4-BE49-F238E27FC236}">
                  <a16:creationId xmlns:a16="http://schemas.microsoft.com/office/drawing/2014/main" id="{4D4BD6B7-E389-3F06-51C0-62986525326E}"/>
                </a:ext>
              </a:extLst>
            </p:cNvPr>
            <p:cNvSpPr txBox="1"/>
            <p:nvPr/>
          </p:nvSpPr>
          <p:spPr>
            <a:xfrm>
              <a:off x="408572" y="2797129"/>
              <a:ext cx="845663" cy="369332"/>
            </a:xfrm>
            <a:prstGeom prst="rect">
              <a:avLst/>
            </a:prstGeom>
            <a:noFill/>
          </p:spPr>
          <p:txBody>
            <a:bodyPr wrap="square" rtlCol="0">
              <a:spAutoFit/>
            </a:bodyPr>
            <a:lstStyle/>
            <a:p>
              <a:r>
                <a:rPr lang="fr-FR" dirty="0">
                  <a:latin typeface="Tahoma" panose="020B0604030504040204" pitchFamily="34" charset="0"/>
                  <a:ea typeface="Tahoma" panose="020B0604030504040204" pitchFamily="34" charset="0"/>
                  <a:cs typeface="Tahoma" panose="020B0604030504040204" pitchFamily="34" charset="0"/>
                </a:rPr>
                <a:t>ECWP</a:t>
              </a:r>
            </a:p>
          </p:txBody>
        </p:sp>
        <p:pic>
          <p:nvPicPr>
            <p:cNvPr id="8" name="Image 7">
              <a:extLst>
                <a:ext uri="{FF2B5EF4-FFF2-40B4-BE49-F238E27FC236}">
                  <a16:creationId xmlns:a16="http://schemas.microsoft.com/office/drawing/2014/main" id="{B6150F05-1251-632C-22CE-6C02D73C802B}"/>
                </a:ext>
              </a:extLst>
            </p:cNvPr>
            <p:cNvPicPr>
              <a:picLocks noChangeAspect="1"/>
            </p:cNvPicPr>
            <p:nvPr/>
          </p:nvPicPr>
          <p:blipFill>
            <a:blip r:embed="rId13"/>
            <a:stretch>
              <a:fillRect/>
            </a:stretch>
          </p:blipFill>
          <p:spPr>
            <a:xfrm>
              <a:off x="205130" y="2890237"/>
              <a:ext cx="276708" cy="183116"/>
            </a:xfrm>
            <a:prstGeom prst="rect">
              <a:avLst/>
            </a:prstGeom>
          </p:spPr>
        </p:pic>
      </p:grpSp>
      <p:sp>
        <p:nvSpPr>
          <p:cNvPr id="18" name="ZoneTexte 17">
            <a:extLst>
              <a:ext uri="{FF2B5EF4-FFF2-40B4-BE49-F238E27FC236}">
                <a16:creationId xmlns:a16="http://schemas.microsoft.com/office/drawing/2014/main" id="{89D749AF-986C-037C-FF35-9281CDD13A84}"/>
              </a:ext>
            </a:extLst>
          </p:cNvPr>
          <p:cNvSpPr txBox="1"/>
          <p:nvPr/>
        </p:nvSpPr>
        <p:spPr>
          <a:xfrm>
            <a:off x="446615" y="3841006"/>
            <a:ext cx="1579521" cy="369332"/>
          </a:xfrm>
          <a:prstGeom prst="rect">
            <a:avLst/>
          </a:prstGeom>
          <a:noFill/>
        </p:spPr>
        <p:txBody>
          <a:bodyPr wrap="square" rtlCol="0">
            <a:spAutoFit/>
          </a:bodyPr>
          <a:lstStyle/>
          <a:p>
            <a:r>
              <a:rPr lang="fr-FR" dirty="0"/>
              <a:t>2017 - 2024</a:t>
            </a:r>
          </a:p>
        </p:txBody>
      </p:sp>
      <p:grpSp>
        <p:nvGrpSpPr>
          <p:cNvPr id="19" name="Groupe 18">
            <a:extLst>
              <a:ext uri="{FF2B5EF4-FFF2-40B4-BE49-F238E27FC236}">
                <a16:creationId xmlns:a16="http://schemas.microsoft.com/office/drawing/2014/main" id="{085C9FA2-B4F0-4E4B-72B4-0225E8ECC455}"/>
              </a:ext>
            </a:extLst>
          </p:cNvPr>
          <p:cNvGrpSpPr/>
          <p:nvPr/>
        </p:nvGrpSpPr>
        <p:grpSpPr>
          <a:xfrm>
            <a:off x="546243" y="4845455"/>
            <a:ext cx="1049105" cy="369332"/>
            <a:chOff x="205130" y="2797129"/>
            <a:chExt cx="1049105" cy="369332"/>
          </a:xfrm>
        </p:grpSpPr>
        <p:sp>
          <p:nvSpPr>
            <p:cNvPr id="20" name="ZoneTexte 19">
              <a:extLst>
                <a:ext uri="{FF2B5EF4-FFF2-40B4-BE49-F238E27FC236}">
                  <a16:creationId xmlns:a16="http://schemas.microsoft.com/office/drawing/2014/main" id="{F34EDE5E-6E80-9BAD-2E26-DF9CECA3559B}"/>
                </a:ext>
              </a:extLst>
            </p:cNvPr>
            <p:cNvSpPr txBox="1"/>
            <p:nvPr/>
          </p:nvSpPr>
          <p:spPr>
            <a:xfrm>
              <a:off x="408572" y="2797129"/>
              <a:ext cx="845663" cy="369332"/>
            </a:xfrm>
            <a:prstGeom prst="rect">
              <a:avLst/>
            </a:prstGeom>
            <a:noFill/>
          </p:spPr>
          <p:txBody>
            <a:bodyPr wrap="square" rtlCol="0">
              <a:spAutoFit/>
            </a:bodyPr>
            <a:lstStyle/>
            <a:p>
              <a:r>
                <a:rPr lang="fr-FR" dirty="0">
                  <a:latin typeface="Tahoma" panose="020B0604030504040204" pitchFamily="34" charset="0"/>
                  <a:ea typeface="Tahoma" panose="020B0604030504040204" pitchFamily="34" charset="0"/>
                  <a:cs typeface="Tahoma" panose="020B0604030504040204" pitchFamily="34" charset="0"/>
                </a:rPr>
                <a:t>ECWP</a:t>
              </a:r>
            </a:p>
          </p:txBody>
        </p:sp>
        <p:pic>
          <p:nvPicPr>
            <p:cNvPr id="21" name="Image 20">
              <a:extLst>
                <a:ext uri="{FF2B5EF4-FFF2-40B4-BE49-F238E27FC236}">
                  <a16:creationId xmlns:a16="http://schemas.microsoft.com/office/drawing/2014/main" id="{28B7EB13-2C35-4CF7-05EC-85231B7E550A}"/>
                </a:ext>
              </a:extLst>
            </p:cNvPr>
            <p:cNvPicPr>
              <a:picLocks noChangeAspect="1"/>
            </p:cNvPicPr>
            <p:nvPr/>
          </p:nvPicPr>
          <p:blipFill>
            <a:blip r:embed="rId13"/>
            <a:stretch>
              <a:fillRect/>
            </a:stretch>
          </p:blipFill>
          <p:spPr>
            <a:xfrm>
              <a:off x="205130" y="2890237"/>
              <a:ext cx="276708" cy="183116"/>
            </a:xfrm>
            <a:prstGeom prst="rect">
              <a:avLst/>
            </a:prstGeom>
          </p:spPr>
        </p:pic>
      </p:grpSp>
      <p:sp>
        <p:nvSpPr>
          <p:cNvPr id="22" name="ZoneTexte 21">
            <a:extLst>
              <a:ext uri="{FF2B5EF4-FFF2-40B4-BE49-F238E27FC236}">
                <a16:creationId xmlns:a16="http://schemas.microsoft.com/office/drawing/2014/main" id="{E575A768-C95A-DBCC-161E-C4B5E299902B}"/>
              </a:ext>
            </a:extLst>
          </p:cNvPr>
          <p:cNvSpPr txBox="1"/>
          <p:nvPr/>
        </p:nvSpPr>
        <p:spPr>
          <a:xfrm>
            <a:off x="446615" y="5191987"/>
            <a:ext cx="1579521" cy="369332"/>
          </a:xfrm>
          <a:prstGeom prst="rect">
            <a:avLst/>
          </a:prstGeom>
          <a:noFill/>
        </p:spPr>
        <p:txBody>
          <a:bodyPr wrap="square" rtlCol="0">
            <a:spAutoFit/>
          </a:bodyPr>
          <a:lstStyle/>
          <a:p>
            <a:r>
              <a:rPr lang="fr-FR" dirty="0"/>
              <a:t>2025 - …</a:t>
            </a:r>
          </a:p>
        </p:txBody>
      </p:sp>
      <p:pic>
        <p:nvPicPr>
          <p:cNvPr id="23" name="Image 22">
            <a:extLst>
              <a:ext uri="{FF2B5EF4-FFF2-40B4-BE49-F238E27FC236}">
                <a16:creationId xmlns:a16="http://schemas.microsoft.com/office/drawing/2014/main" id="{ED459BF5-E3F6-3705-2F46-3882CF9FB92A}"/>
              </a:ext>
            </a:extLst>
          </p:cNvPr>
          <p:cNvPicPr>
            <a:picLocks noChangeAspect="1"/>
          </p:cNvPicPr>
          <p:nvPr/>
        </p:nvPicPr>
        <p:blipFill>
          <a:blip r:embed="rId9"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29206" y="4912157"/>
            <a:ext cx="1076209" cy="605260"/>
          </a:xfrm>
          <a:prstGeom prst="rect">
            <a:avLst/>
          </a:prstGeom>
        </p:spPr>
      </p:pic>
      <p:pic>
        <p:nvPicPr>
          <p:cNvPr id="24" name="Image 23" descr="Une image contenant vaisselle, intérieur&#10;&#10;Description générée automatiquement">
            <a:extLst>
              <a:ext uri="{FF2B5EF4-FFF2-40B4-BE49-F238E27FC236}">
                <a16:creationId xmlns:a16="http://schemas.microsoft.com/office/drawing/2014/main" id="{CEC13E12-AE97-1CE5-01B2-227F745F7F81}"/>
              </a:ext>
            </a:extLst>
          </p:cNvPr>
          <p:cNvPicPr>
            <a:picLocks noChangeAspect="1"/>
          </p:cNvPicPr>
          <p:nvPr/>
        </p:nvPicPr>
        <p:blipFill rotWithShape="1">
          <a:blip r:embed="rId11" cstate="screen">
            <a:clrChange>
              <a:clrFrom>
                <a:srgbClr val="FFFFFF"/>
              </a:clrFrom>
              <a:clrTo>
                <a:srgbClr val="FFFFFF">
                  <a:alpha val="0"/>
                </a:srgbClr>
              </a:clrTo>
            </a:clrChange>
            <a:extLst>
              <a:ext uri="{BEBA8EAE-BF5A-486C-A8C5-ECC9F3942E4B}">
                <a14:imgProps xmlns:a14="http://schemas.microsoft.com/office/drawing/2010/main">
                  <a14:imgLayer r:embed="rId12">
                    <a14:imgEffect>
                      <a14:sharpenSoften amount="25000"/>
                    </a14:imgEffect>
                    <a14:imgEffect>
                      <a14:brightnessContrast bright="40000" contrast="-40000"/>
                    </a14:imgEffect>
                  </a14:imgLayer>
                </a14:imgProps>
              </a:ext>
              <a:ext uri="{28A0092B-C50C-407E-A947-70E740481C1C}">
                <a14:useLocalDpi xmlns:a14="http://schemas.microsoft.com/office/drawing/2010/main"/>
              </a:ext>
            </a:extLst>
          </a:blip>
          <a:srcRect/>
          <a:stretch/>
        </p:blipFill>
        <p:spPr>
          <a:xfrm>
            <a:off x="8401410" y="4731503"/>
            <a:ext cx="1201583" cy="789400"/>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5" name="Image 24">
            <a:extLst>
              <a:ext uri="{FF2B5EF4-FFF2-40B4-BE49-F238E27FC236}">
                <a16:creationId xmlns:a16="http://schemas.microsoft.com/office/drawing/2014/main" id="{99B832F7-31C3-3BE8-5591-25D9DC3F8439}"/>
              </a:ext>
            </a:extLst>
          </p:cNvPr>
          <p:cNvPicPr>
            <a:picLocks noChangeAspect="1"/>
          </p:cNvPicPr>
          <p:nvPr/>
        </p:nvPicPr>
        <p:blipFill>
          <a:blip r:embed="rId1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25487" y="4650880"/>
            <a:ext cx="941026" cy="518843"/>
          </a:xfrm>
          <a:prstGeom prst="rect">
            <a:avLst/>
          </a:prstGeom>
        </p:spPr>
      </p:pic>
      <p:grpSp>
        <p:nvGrpSpPr>
          <p:cNvPr id="26" name="Groupe 25">
            <a:extLst>
              <a:ext uri="{FF2B5EF4-FFF2-40B4-BE49-F238E27FC236}">
                <a16:creationId xmlns:a16="http://schemas.microsoft.com/office/drawing/2014/main" id="{FD3581A8-C410-6C11-D33F-7B841DB0A7DA}"/>
              </a:ext>
            </a:extLst>
          </p:cNvPr>
          <p:cNvGrpSpPr/>
          <p:nvPr/>
        </p:nvGrpSpPr>
        <p:grpSpPr>
          <a:xfrm>
            <a:off x="5213176" y="4941760"/>
            <a:ext cx="1392660" cy="970363"/>
            <a:chOff x="5844699" y="2286691"/>
            <a:chExt cx="1226639" cy="875978"/>
          </a:xfrm>
        </p:grpSpPr>
        <p:pic>
          <p:nvPicPr>
            <p:cNvPr id="29" name="Image 28">
              <a:extLst>
                <a:ext uri="{FF2B5EF4-FFF2-40B4-BE49-F238E27FC236}">
                  <a16:creationId xmlns:a16="http://schemas.microsoft.com/office/drawing/2014/main" id="{F36097B4-B417-147D-C40A-B51471FAC0E3}"/>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454916" y="2359616"/>
              <a:ext cx="526856" cy="341007"/>
            </a:xfrm>
            <a:prstGeom prst="rect">
              <a:avLst/>
            </a:prstGeom>
          </p:spPr>
        </p:pic>
        <p:pic>
          <p:nvPicPr>
            <p:cNvPr id="32" name="Image 31">
              <a:extLst>
                <a:ext uri="{FF2B5EF4-FFF2-40B4-BE49-F238E27FC236}">
                  <a16:creationId xmlns:a16="http://schemas.microsoft.com/office/drawing/2014/main" id="{314A2105-B677-D634-6CE3-91070B415E19}"/>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542561" y="2681203"/>
              <a:ext cx="287283" cy="470956"/>
            </a:xfrm>
            <a:prstGeom prst="rect">
              <a:avLst/>
            </a:prstGeom>
          </p:spPr>
        </p:pic>
        <p:pic>
          <p:nvPicPr>
            <p:cNvPr id="33" name="Image 32">
              <a:extLst>
                <a:ext uri="{FF2B5EF4-FFF2-40B4-BE49-F238E27FC236}">
                  <a16:creationId xmlns:a16="http://schemas.microsoft.com/office/drawing/2014/main" id="{68B430A8-FB6E-BF3F-1DCC-24E1B20596F7}"/>
                </a:ext>
              </a:extLst>
            </p:cNvPr>
            <p:cNvPicPr>
              <a:picLocks noChangeAspect="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rot="5400000">
              <a:off x="5950048" y="2211586"/>
              <a:ext cx="386252" cy="536461"/>
            </a:xfrm>
            <a:prstGeom prst="rect">
              <a:avLst/>
            </a:prstGeom>
          </p:spPr>
        </p:pic>
        <p:pic>
          <p:nvPicPr>
            <p:cNvPr id="34" name="Image 33">
              <a:extLst>
                <a:ext uri="{FF2B5EF4-FFF2-40B4-BE49-F238E27FC236}">
                  <a16:creationId xmlns:a16="http://schemas.microsoft.com/office/drawing/2014/main" id="{05EE161F-AF77-2934-780C-D2AC3C74881A}"/>
                </a:ext>
              </a:extLst>
            </p:cNvPr>
            <p:cNvPicPr>
              <a:picLocks noChangeAspect="1"/>
            </p:cNvPicPr>
            <p:nvPr/>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844699" y="2692151"/>
              <a:ext cx="340903" cy="454538"/>
            </a:xfrm>
            <a:prstGeom prst="rect">
              <a:avLst/>
            </a:prstGeom>
          </p:spPr>
        </p:pic>
        <p:pic>
          <p:nvPicPr>
            <p:cNvPr id="35" name="Image 34">
              <a:extLst>
                <a:ext uri="{FF2B5EF4-FFF2-40B4-BE49-F238E27FC236}">
                  <a16:creationId xmlns:a16="http://schemas.microsoft.com/office/drawing/2014/main" id="{4741D5E1-7C83-C683-A36E-BE81E86FB41E}"/>
                </a:ext>
              </a:extLst>
            </p:cNvPr>
            <p:cNvPicPr>
              <a:picLocks noChangeAspect="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832497" y="2633053"/>
              <a:ext cx="238841" cy="370296"/>
            </a:xfrm>
            <a:prstGeom prst="rect">
              <a:avLst/>
            </a:prstGeom>
          </p:spPr>
        </p:pic>
        <p:pic>
          <p:nvPicPr>
            <p:cNvPr id="36" name="Image 35">
              <a:extLst>
                <a:ext uri="{FF2B5EF4-FFF2-40B4-BE49-F238E27FC236}">
                  <a16:creationId xmlns:a16="http://schemas.microsoft.com/office/drawing/2014/main" id="{DC3356FD-F269-2475-6E36-BFBA0E564187}"/>
                </a:ext>
              </a:extLst>
            </p:cNvPr>
            <p:cNvPicPr>
              <a:picLocks noChangeAspect="1"/>
            </p:cNvPicPr>
            <p:nvPr/>
          </p:nvPicPr>
          <p:blipFill>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197456" y="2682581"/>
              <a:ext cx="313257" cy="480088"/>
            </a:xfrm>
            <a:prstGeom prst="rect">
              <a:avLst/>
            </a:prstGeom>
          </p:spPr>
        </p:pic>
      </p:grpSp>
      <p:sp>
        <p:nvSpPr>
          <p:cNvPr id="37" name="ZoneTexte 36">
            <a:extLst>
              <a:ext uri="{FF2B5EF4-FFF2-40B4-BE49-F238E27FC236}">
                <a16:creationId xmlns:a16="http://schemas.microsoft.com/office/drawing/2014/main" id="{09E9B81A-8EAD-86EB-DCD2-570E19246A63}"/>
              </a:ext>
            </a:extLst>
          </p:cNvPr>
          <p:cNvSpPr txBox="1"/>
          <p:nvPr/>
        </p:nvSpPr>
        <p:spPr>
          <a:xfrm>
            <a:off x="6252971" y="2597992"/>
            <a:ext cx="1515226" cy="646331"/>
          </a:xfrm>
          <a:prstGeom prst="rect">
            <a:avLst/>
          </a:prstGeom>
          <a:noFill/>
        </p:spPr>
        <p:txBody>
          <a:bodyPr wrap="square" rtlCol="0">
            <a:spAutoFit/>
          </a:bodyPr>
          <a:lstStyle/>
          <a:p>
            <a:pPr algn="ctr"/>
            <a:r>
              <a:rPr lang="fr-FR" dirty="0" err="1"/>
              <a:t>Other</a:t>
            </a:r>
            <a:r>
              <a:rPr lang="fr-FR" dirty="0"/>
              <a:t> </a:t>
            </a:r>
            <a:r>
              <a:rPr lang="fr-FR" dirty="0" err="1"/>
              <a:t>Tenebrionidae</a:t>
            </a:r>
            <a:endParaRPr lang="fr-FR" dirty="0"/>
          </a:p>
        </p:txBody>
      </p:sp>
      <p:sp>
        <p:nvSpPr>
          <p:cNvPr id="38" name="ZoneTexte 37">
            <a:extLst>
              <a:ext uri="{FF2B5EF4-FFF2-40B4-BE49-F238E27FC236}">
                <a16:creationId xmlns:a16="http://schemas.microsoft.com/office/drawing/2014/main" id="{2B9C634F-4AAE-CCDE-7095-BA474972665B}"/>
              </a:ext>
            </a:extLst>
          </p:cNvPr>
          <p:cNvSpPr txBox="1"/>
          <p:nvPr/>
        </p:nvSpPr>
        <p:spPr>
          <a:xfrm>
            <a:off x="10578911" y="4910302"/>
            <a:ext cx="371305" cy="369332"/>
          </a:xfrm>
          <a:prstGeom prst="rect">
            <a:avLst/>
          </a:prstGeom>
          <a:noFill/>
        </p:spPr>
        <p:txBody>
          <a:bodyPr wrap="square" rtlCol="0">
            <a:spAutoFit/>
          </a:bodyPr>
          <a:lstStyle/>
          <a:p>
            <a:r>
              <a:rPr lang="fr-FR" dirty="0"/>
              <a:t>3</a:t>
            </a:r>
          </a:p>
        </p:txBody>
      </p:sp>
    </p:spTree>
    <p:extLst>
      <p:ext uri="{BB962C8B-B14F-4D97-AF65-F5344CB8AC3E}">
        <p14:creationId xmlns:p14="http://schemas.microsoft.com/office/powerpoint/2010/main" val="215886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22"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5</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7" name="Tableau 7">
            <a:extLst>
              <a:ext uri="{FF2B5EF4-FFF2-40B4-BE49-F238E27FC236}">
                <a16:creationId xmlns:a16="http://schemas.microsoft.com/office/drawing/2014/main" id="{5B6B4DBC-7FA5-94C3-6880-BDEAD52298FE}"/>
              </a:ext>
            </a:extLst>
          </p:cNvPr>
          <p:cNvGraphicFramePr>
            <a:graphicFrameLocks noGrp="1"/>
          </p:cNvGraphicFramePr>
          <p:nvPr>
            <p:extLst>
              <p:ext uri="{D42A27DB-BD31-4B8C-83A1-F6EECF244321}">
                <p14:modId xmlns:p14="http://schemas.microsoft.com/office/powerpoint/2010/main" val="2134777607"/>
              </p:ext>
            </p:extLst>
          </p:nvPr>
        </p:nvGraphicFramePr>
        <p:xfrm>
          <a:off x="4365060" y="2338402"/>
          <a:ext cx="2350596" cy="1859280"/>
        </p:xfrm>
        <a:graphic>
          <a:graphicData uri="http://schemas.openxmlformats.org/drawingml/2006/table">
            <a:tbl>
              <a:tblPr firstRow="1" bandRow="1">
                <a:tableStyleId>{93296810-A885-4BE3-A3E7-6D5BEEA58F35}</a:tableStyleId>
              </a:tblPr>
              <a:tblGrid>
                <a:gridCol w="2350596">
                  <a:extLst>
                    <a:ext uri="{9D8B030D-6E8A-4147-A177-3AD203B41FA5}">
                      <a16:colId xmlns:a16="http://schemas.microsoft.com/office/drawing/2014/main" val="4138061928"/>
                    </a:ext>
                  </a:extLst>
                </a:gridCol>
              </a:tblGrid>
              <a:tr h="370840">
                <a:tc>
                  <a:txBody>
                    <a:bodyPr/>
                    <a:lstStyle/>
                    <a:p>
                      <a:r>
                        <a:rPr lang="fr-FR" sz="2000" dirty="0"/>
                        <a:t>ECWP</a:t>
                      </a:r>
                      <a:endParaRPr lang="fr-FR" sz="20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3175382096"/>
                  </a:ext>
                </a:extLst>
              </a:tr>
              <a:tr h="370840">
                <a:tc>
                  <a:txBody>
                    <a:bodyPr/>
                    <a:lstStyle/>
                    <a:p>
                      <a:r>
                        <a:rPr lang="en-GB" sz="1800" kern="1200" dirty="0" err="1">
                          <a:solidFill>
                            <a:schemeClr val="dk1"/>
                          </a:solidFill>
                          <a:effectLst/>
                        </a:rPr>
                        <a:t>Halfah</a:t>
                      </a:r>
                      <a:r>
                        <a:rPr lang="en-GB" sz="1800" kern="1200" dirty="0">
                          <a:solidFill>
                            <a:schemeClr val="dk1"/>
                          </a:solidFill>
                          <a:effectLst/>
                        </a:rPr>
                        <a:t> grass steppe</a:t>
                      </a:r>
                    </a:p>
                    <a:p>
                      <a:r>
                        <a:rPr lang="en-GB" sz="1800" kern="1200" dirty="0">
                          <a:solidFill>
                            <a:schemeClr val="dk1"/>
                          </a:solidFill>
                          <a:effectLst/>
                        </a:rPr>
                        <a:t>Reg</a:t>
                      </a:r>
                    </a:p>
                    <a:p>
                      <a:r>
                        <a:rPr lang="en-GB" sz="1800" kern="1200" dirty="0">
                          <a:solidFill>
                            <a:schemeClr val="dk1"/>
                          </a:solidFill>
                          <a:effectLst/>
                        </a:rPr>
                        <a:t>Alluvial silt plain</a:t>
                      </a:r>
                    </a:p>
                    <a:p>
                      <a:r>
                        <a:rPr lang="en-GB" sz="1800" kern="1200" dirty="0">
                          <a:solidFill>
                            <a:schemeClr val="dk1"/>
                          </a:solidFill>
                          <a:effectLst/>
                        </a:rPr>
                        <a:t>Drainage line and Wadi</a:t>
                      </a:r>
                    </a:p>
                    <a:p>
                      <a:r>
                        <a:rPr lang="en-GB" sz="1800" kern="1200" dirty="0">
                          <a:solidFill>
                            <a:schemeClr val="dk1"/>
                          </a:solidFill>
                          <a:effectLst/>
                        </a:rPr>
                        <a:t>Salt steppes</a:t>
                      </a:r>
                      <a:endParaRPr lang="fr-FR" sz="10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597355932"/>
                  </a:ext>
                </a:extLst>
              </a:tr>
            </a:tbl>
          </a:graphicData>
        </a:graphic>
      </p:graphicFrame>
      <p:pic>
        <p:nvPicPr>
          <p:cNvPr id="32" name="Image 31">
            <a:extLst>
              <a:ext uri="{FF2B5EF4-FFF2-40B4-BE49-F238E27FC236}">
                <a16:creationId xmlns:a16="http://schemas.microsoft.com/office/drawing/2014/main" id="{7BFBF575-95F5-34F5-E347-D8E60D2203FB}"/>
              </a:ext>
            </a:extLst>
          </p:cNvPr>
          <p:cNvPicPr>
            <a:picLocks noChangeAspect="1"/>
          </p:cNvPicPr>
          <p:nvPr/>
        </p:nvPicPr>
        <p:blipFill>
          <a:blip r:embed="rId3"/>
          <a:stretch>
            <a:fillRect/>
          </a:stretch>
        </p:blipFill>
        <p:spPr>
          <a:xfrm>
            <a:off x="6297582" y="2444436"/>
            <a:ext cx="276708" cy="183116"/>
          </a:xfrm>
          <a:prstGeom prst="rect">
            <a:avLst/>
          </a:prstGeom>
        </p:spPr>
      </p:pic>
      <p:pic>
        <p:nvPicPr>
          <p:cNvPr id="25" name="Image 24" descr="Une image contenant plein air, herbe, Fruticée, steppe&#10;&#10;Description générée automatiquement">
            <a:extLst>
              <a:ext uri="{FF2B5EF4-FFF2-40B4-BE49-F238E27FC236}">
                <a16:creationId xmlns:a16="http://schemas.microsoft.com/office/drawing/2014/main" id="{016EE5F8-74DC-2563-CEF5-7AF3B357212C}"/>
              </a:ext>
            </a:extLst>
          </p:cNvPr>
          <p:cNvPicPr>
            <a:picLocks noChangeAspect="1"/>
          </p:cNvPicPr>
          <p:nvPr/>
        </p:nvPicPr>
        <p:blipFill rotWithShape="1">
          <a:blip r:embed="rId4" cstate="screen">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a:ext>
            </a:extLst>
          </a:blip>
          <a:srcRect/>
          <a:stretch/>
        </p:blipFill>
        <p:spPr>
          <a:xfrm>
            <a:off x="7481560" y="470717"/>
            <a:ext cx="2952876" cy="1973719"/>
          </a:xfrm>
          <a:prstGeom prst="rect">
            <a:avLst/>
          </a:prstGeom>
        </p:spPr>
      </p:pic>
      <p:sp>
        <p:nvSpPr>
          <p:cNvPr id="26" name="ZoneTexte 25">
            <a:extLst>
              <a:ext uri="{FF2B5EF4-FFF2-40B4-BE49-F238E27FC236}">
                <a16:creationId xmlns:a16="http://schemas.microsoft.com/office/drawing/2014/main" id="{B1FF9EA3-BF6C-C21B-A9C6-EB80A57D46BE}"/>
              </a:ext>
            </a:extLst>
          </p:cNvPr>
          <p:cNvSpPr txBox="1"/>
          <p:nvPr/>
        </p:nvSpPr>
        <p:spPr>
          <a:xfrm>
            <a:off x="7410819" y="2153736"/>
            <a:ext cx="1366659" cy="369332"/>
          </a:xfrm>
          <a:prstGeom prst="rect">
            <a:avLst/>
          </a:prstGeom>
          <a:noFill/>
        </p:spPr>
        <p:txBody>
          <a:bodyPr wrap="square" rtlCol="0">
            <a:spAutoFit/>
          </a:bodyPr>
          <a:lstStyle/>
          <a:p>
            <a:r>
              <a:rPr lang="fr-FR" dirty="0" err="1"/>
              <a:t>Halfah</a:t>
            </a:r>
            <a:r>
              <a:rPr lang="fr-FR" dirty="0"/>
              <a:t> </a:t>
            </a:r>
            <a:r>
              <a:rPr lang="fr-FR" dirty="0" err="1"/>
              <a:t>grass</a:t>
            </a:r>
            <a:endParaRPr lang="fr-FR" dirty="0"/>
          </a:p>
        </p:txBody>
      </p:sp>
      <p:sp>
        <p:nvSpPr>
          <p:cNvPr id="5" name="Espace réservé du contenu 2">
            <a:extLst>
              <a:ext uri="{FF2B5EF4-FFF2-40B4-BE49-F238E27FC236}">
                <a16:creationId xmlns:a16="http://schemas.microsoft.com/office/drawing/2014/main" id="{EC8B01A0-07FD-7E3C-BCC0-5319B6249D2B}"/>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Habitats</a:t>
            </a:r>
          </a:p>
        </p:txBody>
      </p:sp>
      <p:pic>
        <p:nvPicPr>
          <p:cNvPr id="21" name="Image 20">
            <a:extLst>
              <a:ext uri="{FF2B5EF4-FFF2-40B4-BE49-F238E27FC236}">
                <a16:creationId xmlns:a16="http://schemas.microsoft.com/office/drawing/2014/main" id="{33631EE7-E0FE-CC32-D2C0-52CD74D9BD9C}"/>
              </a:ext>
            </a:extLst>
          </p:cNvPr>
          <p:cNvPicPr>
            <a:picLocks noChangeAspect="1"/>
          </p:cNvPicPr>
          <p:nvPr/>
        </p:nvPicPr>
        <p:blipFill>
          <a:blip r:embed="rId6" cstate="screen">
            <a:extLst>
              <a:ext uri="{28A0092B-C50C-407E-A947-70E740481C1C}">
                <a14:useLocalDpi xmlns:a14="http://schemas.microsoft.com/office/drawing/2010/main"/>
              </a:ext>
            </a:extLst>
          </a:blip>
          <a:srcRect l="-2"/>
          <a:stretch>
            <a:fillRect/>
          </a:stretch>
        </p:blipFill>
        <p:spPr>
          <a:xfrm>
            <a:off x="6952033" y="4742194"/>
            <a:ext cx="2960324" cy="1966820"/>
          </a:xfrm>
          <a:prstGeom prst="rect">
            <a:avLst/>
          </a:prstGeom>
        </p:spPr>
      </p:pic>
      <p:pic>
        <p:nvPicPr>
          <p:cNvPr id="36" name="Image 35">
            <a:extLst>
              <a:ext uri="{FF2B5EF4-FFF2-40B4-BE49-F238E27FC236}">
                <a16:creationId xmlns:a16="http://schemas.microsoft.com/office/drawing/2014/main" id="{A4654E4E-29C4-B91C-E32B-519289919177}"/>
              </a:ext>
            </a:extLst>
          </p:cNvPr>
          <p:cNvPicPr>
            <a:picLocks noChangeAspect="1"/>
          </p:cNvPicPr>
          <p:nvPr/>
        </p:nvPicPr>
        <p:blipFill>
          <a:blip r:embed="rId7" cstate="screen">
            <a:extLst>
              <a:ext uri="{BEBA8EAE-BF5A-486C-A8C5-ECC9F3942E4B}">
                <a14:imgProps xmlns:a14="http://schemas.microsoft.com/office/drawing/2010/main">
                  <a14:imgLayer r:embed="rId8">
                    <a14:imgEffect>
                      <a14:colorTemperature colorTemp="5300"/>
                    </a14:imgEffect>
                  </a14:imgLayer>
                </a14:imgProps>
              </a:ext>
              <a:ext uri="{28A0092B-C50C-407E-A947-70E740481C1C}">
                <a14:useLocalDpi xmlns:a14="http://schemas.microsoft.com/office/drawing/2010/main"/>
              </a:ext>
            </a:extLst>
          </a:blip>
          <a:srcRect/>
          <a:stretch>
            <a:fillRect/>
          </a:stretch>
        </p:blipFill>
        <p:spPr>
          <a:xfrm>
            <a:off x="3752241" y="4742194"/>
            <a:ext cx="2952876" cy="1979281"/>
          </a:xfrm>
          <a:prstGeom prst="rect">
            <a:avLst/>
          </a:prstGeom>
        </p:spPr>
      </p:pic>
      <p:pic>
        <p:nvPicPr>
          <p:cNvPr id="38" name="Image 37">
            <a:extLst>
              <a:ext uri="{FF2B5EF4-FFF2-40B4-BE49-F238E27FC236}">
                <a16:creationId xmlns:a16="http://schemas.microsoft.com/office/drawing/2014/main" id="{F4099E18-04FF-CA8E-47B9-6518C2E68E6F}"/>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555951" y="3748935"/>
            <a:ext cx="2952876" cy="1979281"/>
          </a:xfrm>
          <a:prstGeom prst="rect">
            <a:avLst/>
          </a:prstGeom>
        </p:spPr>
      </p:pic>
      <p:sp>
        <p:nvSpPr>
          <p:cNvPr id="39" name="ZoneTexte 38">
            <a:extLst>
              <a:ext uri="{FF2B5EF4-FFF2-40B4-BE49-F238E27FC236}">
                <a16:creationId xmlns:a16="http://schemas.microsoft.com/office/drawing/2014/main" id="{D87FBDDB-4396-47F8-D0EC-02916295214A}"/>
              </a:ext>
            </a:extLst>
          </p:cNvPr>
          <p:cNvSpPr txBox="1"/>
          <p:nvPr/>
        </p:nvSpPr>
        <p:spPr>
          <a:xfrm>
            <a:off x="555951" y="5392572"/>
            <a:ext cx="1366659" cy="369332"/>
          </a:xfrm>
          <a:prstGeom prst="rect">
            <a:avLst/>
          </a:prstGeom>
          <a:noFill/>
        </p:spPr>
        <p:txBody>
          <a:bodyPr wrap="square" rtlCol="0">
            <a:spAutoFit/>
          </a:bodyPr>
          <a:lstStyle/>
          <a:p>
            <a:r>
              <a:rPr lang="fr-FR" dirty="0"/>
              <a:t>Salt steppe</a:t>
            </a:r>
          </a:p>
        </p:txBody>
      </p:sp>
      <p:sp>
        <p:nvSpPr>
          <p:cNvPr id="41" name="ZoneTexte 40">
            <a:extLst>
              <a:ext uri="{FF2B5EF4-FFF2-40B4-BE49-F238E27FC236}">
                <a16:creationId xmlns:a16="http://schemas.microsoft.com/office/drawing/2014/main" id="{EEAC06BD-F216-B910-55D9-EC6F3CCC1865}"/>
              </a:ext>
            </a:extLst>
          </p:cNvPr>
          <p:cNvSpPr txBox="1"/>
          <p:nvPr/>
        </p:nvSpPr>
        <p:spPr>
          <a:xfrm>
            <a:off x="5989024" y="6408030"/>
            <a:ext cx="683330" cy="369332"/>
          </a:xfrm>
          <a:prstGeom prst="rect">
            <a:avLst/>
          </a:prstGeom>
          <a:noFill/>
        </p:spPr>
        <p:txBody>
          <a:bodyPr wrap="square" rtlCol="0">
            <a:spAutoFit/>
          </a:bodyPr>
          <a:lstStyle/>
          <a:p>
            <a:r>
              <a:rPr lang="fr-FR" dirty="0"/>
              <a:t>Wadi</a:t>
            </a:r>
          </a:p>
        </p:txBody>
      </p:sp>
      <p:sp>
        <p:nvSpPr>
          <p:cNvPr id="42" name="ZoneTexte 41">
            <a:extLst>
              <a:ext uri="{FF2B5EF4-FFF2-40B4-BE49-F238E27FC236}">
                <a16:creationId xmlns:a16="http://schemas.microsoft.com/office/drawing/2014/main" id="{AF948B64-E335-059F-C204-FFD8F5F7746C}"/>
              </a:ext>
            </a:extLst>
          </p:cNvPr>
          <p:cNvSpPr txBox="1"/>
          <p:nvPr/>
        </p:nvSpPr>
        <p:spPr>
          <a:xfrm>
            <a:off x="6919270" y="6365442"/>
            <a:ext cx="1366659" cy="369332"/>
          </a:xfrm>
          <a:prstGeom prst="rect">
            <a:avLst/>
          </a:prstGeom>
          <a:noFill/>
        </p:spPr>
        <p:txBody>
          <a:bodyPr wrap="square" rtlCol="0">
            <a:spAutoFit/>
          </a:bodyPr>
          <a:lstStyle/>
          <a:p>
            <a:r>
              <a:rPr lang="fr-FR" dirty="0"/>
              <a:t>Silt plain</a:t>
            </a:r>
          </a:p>
        </p:txBody>
      </p:sp>
      <p:pic>
        <p:nvPicPr>
          <p:cNvPr id="3" name="Image 2">
            <a:extLst>
              <a:ext uri="{FF2B5EF4-FFF2-40B4-BE49-F238E27FC236}">
                <a16:creationId xmlns:a16="http://schemas.microsoft.com/office/drawing/2014/main" id="{36093F21-0E9B-B876-3927-EE57DFBC008D}"/>
              </a:ext>
            </a:extLst>
          </p:cNvPr>
          <p:cNvPicPr>
            <a:picLocks noChangeAspect="1"/>
          </p:cNvPicPr>
          <p:nvPr/>
        </p:nvPicPr>
        <p:blipFill>
          <a:blip r:embed="rId10" cstate="screen">
            <a:extLst>
              <a:ext uri="{28A0092B-C50C-407E-A947-70E740481C1C}">
                <a14:useLocalDpi xmlns:a14="http://schemas.microsoft.com/office/drawing/2010/main"/>
              </a:ext>
            </a:extLst>
          </a:blip>
          <a:srcRect/>
          <a:stretch>
            <a:fillRect/>
          </a:stretch>
        </p:blipFill>
        <p:spPr>
          <a:xfrm>
            <a:off x="7783119" y="2607981"/>
            <a:ext cx="2960324" cy="1973718"/>
          </a:xfrm>
          <a:prstGeom prst="rect">
            <a:avLst/>
          </a:prstGeom>
        </p:spPr>
      </p:pic>
      <p:sp>
        <p:nvSpPr>
          <p:cNvPr id="43" name="ZoneTexte 42">
            <a:extLst>
              <a:ext uri="{FF2B5EF4-FFF2-40B4-BE49-F238E27FC236}">
                <a16:creationId xmlns:a16="http://schemas.microsoft.com/office/drawing/2014/main" id="{DE1C50B0-AED8-F026-68C1-DFA6884E5288}"/>
              </a:ext>
            </a:extLst>
          </p:cNvPr>
          <p:cNvSpPr txBox="1"/>
          <p:nvPr/>
        </p:nvSpPr>
        <p:spPr>
          <a:xfrm>
            <a:off x="7783119" y="4186861"/>
            <a:ext cx="1366659" cy="369332"/>
          </a:xfrm>
          <a:prstGeom prst="rect">
            <a:avLst/>
          </a:prstGeom>
          <a:noFill/>
        </p:spPr>
        <p:txBody>
          <a:bodyPr wrap="square" rtlCol="0">
            <a:spAutoFit/>
          </a:bodyPr>
          <a:lstStyle/>
          <a:p>
            <a:r>
              <a:rPr lang="fr-FR" dirty="0"/>
              <a:t>Reg</a:t>
            </a:r>
          </a:p>
        </p:txBody>
      </p:sp>
    </p:spTree>
    <p:extLst>
      <p:ext uri="{BB962C8B-B14F-4D97-AF65-F5344CB8AC3E}">
        <p14:creationId xmlns:p14="http://schemas.microsoft.com/office/powerpoint/2010/main" val="633426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964C0D9D-56EA-487C-B801-B1AF8B800006}"/>
              </a:ext>
            </a:extLst>
          </p:cNvPr>
          <p:cNvSpPr>
            <a:spLocks noGrp="1"/>
          </p:cNvSpPr>
          <p:nvPr>
            <p:ph idx="1"/>
          </p:nvPr>
        </p:nvSpPr>
        <p:spPr/>
        <p:txBody>
          <a:bodyPr>
            <a:normAutofit/>
          </a:body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Morocco: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protocol</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evolution</a:t>
            </a:r>
            <a:endPar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endParaRP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6</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cxnSp>
        <p:nvCxnSpPr>
          <p:cNvPr id="7" name="Connecteur droit avec flèche 6">
            <a:extLst>
              <a:ext uri="{FF2B5EF4-FFF2-40B4-BE49-F238E27FC236}">
                <a16:creationId xmlns:a16="http://schemas.microsoft.com/office/drawing/2014/main" id="{564458F2-2ACD-6834-CDD1-E390AA89DBD4}"/>
              </a:ext>
            </a:extLst>
          </p:cNvPr>
          <p:cNvCxnSpPr>
            <a:cxnSpLocks/>
          </p:cNvCxnSpPr>
          <p:nvPr/>
        </p:nvCxnSpPr>
        <p:spPr>
          <a:xfrm flipV="1">
            <a:off x="313509" y="5207730"/>
            <a:ext cx="11173097" cy="17418"/>
          </a:xfrm>
          <a:prstGeom prst="straightConnector1">
            <a:avLst/>
          </a:prstGeom>
          <a:ln w="7620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3B3D1631-0F96-F4A3-8382-5E736FE1B5AC}"/>
              </a:ext>
            </a:extLst>
          </p:cNvPr>
          <p:cNvCxnSpPr>
            <a:cxnSpLocks/>
          </p:cNvCxnSpPr>
          <p:nvPr/>
        </p:nvCxnSpPr>
        <p:spPr>
          <a:xfrm>
            <a:off x="1480689"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F64B550A-7780-9D88-54E1-2BEC9D2C4D0C}"/>
              </a:ext>
            </a:extLst>
          </p:cNvPr>
          <p:cNvCxnSpPr>
            <a:cxnSpLocks/>
          </p:cNvCxnSpPr>
          <p:nvPr/>
        </p:nvCxnSpPr>
        <p:spPr>
          <a:xfrm>
            <a:off x="2621255"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33B2DC67-2A97-C8EF-7CC8-F85E625743C8}"/>
              </a:ext>
            </a:extLst>
          </p:cNvPr>
          <p:cNvCxnSpPr>
            <a:cxnSpLocks/>
          </p:cNvCxnSpPr>
          <p:nvPr/>
        </p:nvCxnSpPr>
        <p:spPr>
          <a:xfrm>
            <a:off x="3761821"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41FFB17F-F87D-6409-9624-39D23396D543}"/>
              </a:ext>
            </a:extLst>
          </p:cNvPr>
          <p:cNvCxnSpPr>
            <a:cxnSpLocks/>
          </p:cNvCxnSpPr>
          <p:nvPr/>
        </p:nvCxnSpPr>
        <p:spPr>
          <a:xfrm>
            <a:off x="4902387"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399DA108-24D8-AE9B-C325-87FE8D9CBF17}"/>
              </a:ext>
            </a:extLst>
          </p:cNvPr>
          <p:cNvCxnSpPr>
            <a:cxnSpLocks/>
          </p:cNvCxnSpPr>
          <p:nvPr/>
        </p:nvCxnSpPr>
        <p:spPr>
          <a:xfrm>
            <a:off x="6042953"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D085FABF-6443-5B7B-52E0-00C09457A027}"/>
              </a:ext>
            </a:extLst>
          </p:cNvPr>
          <p:cNvCxnSpPr>
            <a:cxnSpLocks/>
          </p:cNvCxnSpPr>
          <p:nvPr/>
        </p:nvCxnSpPr>
        <p:spPr>
          <a:xfrm>
            <a:off x="7183519"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6977252A-99F4-B6CD-1358-89708DF3CCA5}"/>
              </a:ext>
            </a:extLst>
          </p:cNvPr>
          <p:cNvCxnSpPr>
            <a:cxnSpLocks/>
          </p:cNvCxnSpPr>
          <p:nvPr/>
        </p:nvCxnSpPr>
        <p:spPr>
          <a:xfrm>
            <a:off x="8324085"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7D2E9626-5186-5FB1-94D8-ED8EE30A5FD0}"/>
              </a:ext>
            </a:extLst>
          </p:cNvPr>
          <p:cNvCxnSpPr>
            <a:cxnSpLocks/>
          </p:cNvCxnSpPr>
          <p:nvPr/>
        </p:nvCxnSpPr>
        <p:spPr>
          <a:xfrm>
            <a:off x="9464651"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1BD0CC62-953B-EEEB-3A1A-83B0EF68B82D}"/>
              </a:ext>
            </a:extLst>
          </p:cNvPr>
          <p:cNvCxnSpPr>
            <a:cxnSpLocks/>
          </p:cNvCxnSpPr>
          <p:nvPr/>
        </p:nvCxnSpPr>
        <p:spPr>
          <a:xfrm>
            <a:off x="10605214"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0CB6458A-5AA6-A130-8390-80A847EDA556}"/>
              </a:ext>
            </a:extLst>
          </p:cNvPr>
          <p:cNvSpPr txBox="1"/>
          <p:nvPr/>
        </p:nvSpPr>
        <p:spPr>
          <a:xfrm>
            <a:off x="1262776"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2015</a:t>
            </a:r>
          </a:p>
        </p:txBody>
      </p:sp>
      <p:sp>
        <p:nvSpPr>
          <p:cNvPr id="24" name="ZoneTexte 23">
            <a:extLst>
              <a:ext uri="{FF2B5EF4-FFF2-40B4-BE49-F238E27FC236}">
                <a16:creationId xmlns:a16="http://schemas.microsoft.com/office/drawing/2014/main" id="{66A15073-D4A5-872D-9D32-424F4D261550}"/>
              </a:ext>
            </a:extLst>
          </p:cNvPr>
          <p:cNvSpPr txBox="1"/>
          <p:nvPr/>
        </p:nvSpPr>
        <p:spPr>
          <a:xfrm>
            <a:off x="3547650"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2017</a:t>
            </a:r>
          </a:p>
        </p:txBody>
      </p:sp>
      <p:sp>
        <p:nvSpPr>
          <p:cNvPr id="25" name="ZoneTexte 24">
            <a:extLst>
              <a:ext uri="{FF2B5EF4-FFF2-40B4-BE49-F238E27FC236}">
                <a16:creationId xmlns:a16="http://schemas.microsoft.com/office/drawing/2014/main" id="{09D1C3AA-A771-BBC0-961F-38550CAAA376}"/>
              </a:ext>
            </a:extLst>
          </p:cNvPr>
          <p:cNvSpPr txBox="1"/>
          <p:nvPr/>
        </p:nvSpPr>
        <p:spPr>
          <a:xfrm>
            <a:off x="4685728"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2018</a:t>
            </a:r>
          </a:p>
        </p:txBody>
      </p:sp>
      <p:sp>
        <p:nvSpPr>
          <p:cNvPr id="26" name="ZoneTexte 25">
            <a:extLst>
              <a:ext uri="{FF2B5EF4-FFF2-40B4-BE49-F238E27FC236}">
                <a16:creationId xmlns:a16="http://schemas.microsoft.com/office/drawing/2014/main" id="{9EB2A025-3019-735E-15EE-7021C58878C7}"/>
              </a:ext>
            </a:extLst>
          </p:cNvPr>
          <p:cNvSpPr txBox="1"/>
          <p:nvPr/>
        </p:nvSpPr>
        <p:spPr>
          <a:xfrm>
            <a:off x="5823806"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2019</a:t>
            </a:r>
          </a:p>
        </p:txBody>
      </p:sp>
      <p:sp>
        <p:nvSpPr>
          <p:cNvPr id="27" name="ZoneTexte 26">
            <a:extLst>
              <a:ext uri="{FF2B5EF4-FFF2-40B4-BE49-F238E27FC236}">
                <a16:creationId xmlns:a16="http://schemas.microsoft.com/office/drawing/2014/main" id="{09ADDC0F-F4B0-90D5-C37A-0CA1587A84C1}"/>
              </a:ext>
            </a:extLst>
          </p:cNvPr>
          <p:cNvSpPr txBox="1"/>
          <p:nvPr/>
        </p:nvSpPr>
        <p:spPr>
          <a:xfrm>
            <a:off x="6953175"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2020</a:t>
            </a:r>
          </a:p>
        </p:txBody>
      </p:sp>
      <p:sp>
        <p:nvSpPr>
          <p:cNvPr id="28" name="ZoneTexte 27">
            <a:extLst>
              <a:ext uri="{FF2B5EF4-FFF2-40B4-BE49-F238E27FC236}">
                <a16:creationId xmlns:a16="http://schemas.microsoft.com/office/drawing/2014/main" id="{40DF3429-A380-F44C-CE4F-B2DBAD29E48C}"/>
              </a:ext>
            </a:extLst>
          </p:cNvPr>
          <p:cNvSpPr txBox="1"/>
          <p:nvPr/>
        </p:nvSpPr>
        <p:spPr>
          <a:xfrm>
            <a:off x="8091254"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2021</a:t>
            </a:r>
          </a:p>
        </p:txBody>
      </p:sp>
      <p:sp>
        <p:nvSpPr>
          <p:cNvPr id="29" name="ZoneTexte 28">
            <a:extLst>
              <a:ext uri="{FF2B5EF4-FFF2-40B4-BE49-F238E27FC236}">
                <a16:creationId xmlns:a16="http://schemas.microsoft.com/office/drawing/2014/main" id="{BF154669-872E-8A4D-7558-A2A05537204E}"/>
              </a:ext>
            </a:extLst>
          </p:cNvPr>
          <p:cNvSpPr txBox="1"/>
          <p:nvPr/>
        </p:nvSpPr>
        <p:spPr>
          <a:xfrm>
            <a:off x="9194496"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2022</a:t>
            </a:r>
          </a:p>
        </p:txBody>
      </p:sp>
      <p:sp>
        <p:nvSpPr>
          <p:cNvPr id="30" name="ZoneTexte 29">
            <a:extLst>
              <a:ext uri="{FF2B5EF4-FFF2-40B4-BE49-F238E27FC236}">
                <a16:creationId xmlns:a16="http://schemas.microsoft.com/office/drawing/2014/main" id="{67258CCE-E9E6-DDC1-85DF-9FF044471C57}"/>
              </a:ext>
            </a:extLst>
          </p:cNvPr>
          <p:cNvSpPr txBox="1"/>
          <p:nvPr/>
        </p:nvSpPr>
        <p:spPr>
          <a:xfrm>
            <a:off x="10367412"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2023</a:t>
            </a:r>
          </a:p>
        </p:txBody>
      </p:sp>
      <p:sp>
        <p:nvSpPr>
          <p:cNvPr id="31" name="ZoneTexte 30">
            <a:extLst>
              <a:ext uri="{FF2B5EF4-FFF2-40B4-BE49-F238E27FC236}">
                <a16:creationId xmlns:a16="http://schemas.microsoft.com/office/drawing/2014/main" id="{54316F70-47E0-50E3-C806-AD0B68365CF2}"/>
              </a:ext>
            </a:extLst>
          </p:cNvPr>
          <p:cNvSpPr txBox="1"/>
          <p:nvPr/>
        </p:nvSpPr>
        <p:spPr>
          <a:xfrm>
            <a:off x="2409571" y="4776454"/>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2016</a:t>
            </a:r>
          </a:p>
        </p:txBody>
      </p:sp>
      <p:cxnSp>
        <p:nvCxnSpPr>
          <p:cNvPr id="36" name="Connecteur droit 35">
            <a:extLst>
              <a:ext uri="{FF2B5EF4-FFF2-40B4-BE49-F238E27FC236}">
                <a16:creationId xmlns:a16="http://schemas.microsoft.com/office/drawing/2014/main" id="{68955785-31C2-A0FE-3DA0-34E18DFB3DE6}"/>
              </a:ext>
            </a:extLst>
          </p:cNvPr>
          <p:cNvCxnSpPr>
            <a:cxnSpLocks/>
          </p:cNvCxnSpPr>
          <p:nvPr/>
        </p:nvCxnSpPr>
        <p:spPr>
          <a:xfrm>
            <a:off x="340123" y="4968241"/>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486C6DDD-54B8-6A00-2C70-457B35E4D7AD}"/>
              </a:ext>
            </a:extLst>
          </p:cNvPr>
          <p:cNvSpPr txBox="1"/>
          <p:nvPr/>
        </p:nvSpPr>
        <p:spPr>
          <a:xfrm>
            <a:off x="125519" y="4776453"/>
            <a:ext cx="475605" cy="246221"/>
          </a:xfrm>
          <a:prstGeom prst="rect">
            <a:avLst/>
          </a:prstGeom>
          <a:noFill/>
        </p:spPr>
        <p:txBody>
          <a:bodyPr wrap="square" rtlCol="0">
            <a:spAutoFit/>
          </a:bodyPr>
          <a:lstStyle/>
          <a:p>
            <a:r>
              <a:rPr lang="fr-FR" sz="1000" dirty="0">
                <a:solidFill>
                  <a:schemeClr val="bg2">
                    <a:lumMod val="75000"/>
                  </a:schemeClr>
                </a:solidFill>
                <a:latin typeface="Arial" panose="020B0604020202020204" pitchFamily="34" charset="0"/>
                <a:cs typeface="Arial" panose="020B0604020202020204" pitchFamily="34" charset="0"/>
              </a:rPr>
              <a:t>2014</a:t>
            </a:r>
          </a:p>
        </p:txBody>
      </p:sp>
      <p:sp>
        <p:nvSpPr>
          <p:cNvPr id="38" name="ZoneTexte 37">
            <a:extLst>
              <a:ext uri="{FF2B5EF4-FFF2-40B4-BE49-F238E27FC236}">
                <a16:creationId xmlns:a16="http://schemas.microsoft.com/office/drawing/2014/main" id="{4B122CCB-AA03-D265-107B-218AD62DDC7F}"/>
              </a:ext>
            </a:extLst>
          </p:cNvPr>
          <p:cNvSpPr txBox="1"/>
          <p:nvPr/>
        </p:nvSpPr>
        <p:spPr>
          <a:xfrm>
            <a:off x="459375" y="3452383"/>
            <a:ext cx="981349" cy="1015663"/>
          </a:xfrm>
          <a:prstGeom prst="rect">
            <a:avLst/>
          </a:prstGeom>
          <a:solidFill>
            <a:schemeClr val="accent2">
              <a:lumMod val="20000"/>
              <a:lumOff val="80000"/>
            </a:schemeClr>
          </a:solidFill>
        </p:spPr>
        <p:txBody>
          <a:bodyPr wrap="square" rtlCol="0">
            <a:spAutoFit/>
          </a:bodyPr>
          <a:lstStyle/>
          <a:p>
            <a:r>
              <a:rPr lang="fr-FR" sz="1000" dirty="0">
                <a:latin typeface="Arial" panose="020B0604020202020204" pitchFamily="34" charset="0"/>
                <a:cs typeface="Arial" panose="020B0604020202020204" pitchFamily="34" charset="0"/>
              </a:rPr>
              <a:t>First </a:t>
            </a:r>
            <a:r>
              <a:rPr lang="fr-FR" sz="1000" i="1" dirty="0" err="1">
                <a:latin typeface="Arial" panose="020B0604020202020204" pitchFamily="34" charset="0"/>
                <a:cs typeface="Arial" panose="020B0604020202020204" pitchFamily="34" charset="0"/>
              </a:rPr>
              <a:t>Messor</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nests</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density</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(test) and </a:t>
            </a:r>
            <a:r>
              <a:rPr lang="fr-FR" sz="1000" dirty="0" err="1">
                <a:latin typeface="Arial" panose="020B0604020202020204" pitchFamily="34" charset="0"/>
                <a:cs typeface="Arial" panose="020B0604020202020204" pitchFamily="34" charset="0"/>
              </a:rPr>
              <a:t>circadian</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rhythms</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inside</a:t>
            </a:r>
            <a:r>
              <a:rPr lang="fr-FR" sz="1000" dirty="0">
                <a:latin typeface="Arial" panose="020B0604020202020204" pitchFamily="34" charset="0"/>
                <a:cs typeface="Arial" panose="020B0604020202020204" pitchFamily="34" charset="0"/>
              </a:rPr>
              <a:t> ECWP</a:t>
            </a:r>
          </a:p>
        </p:txBody>
      </p:sp>
      <p:pic>
        <p:nvPicPr>
          <p:cNvPr id="42" name="Image 41" descr="Une image contenant sol, trou, cercle, plein air&#10;&#10;Description générée automatiquement">
            <a:extLst>
              <a:ext uri="{FF2B5EF4-FFF2-40B4-BE49-F238E27FC236}">
                <a16:creationId xmlns:a16="http://schemas.microsoft.com/office/drawing/2014/main" id="{1BD09E10-17F5-8B49-C310-B317EB68A7C0}"/>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1720963" y="5360085"/>
            <a:ext cx="573049" cy="335796"/>
          </a:xfrm>
          <a:prstGeom prst="rect">
            <a:avLst/>
          </a:prstGeom>
        </p:spPr>
      </p:pic>
      <p:pic>
        <p:nvPicPr>
          <p:cNvPr id="50" name="Image 49" descr="Une image contenant sol, trou, cercle, plein air&#10;&#10;Description générée automatiquement">
            <a:extLst>
              <a:ext uri="{FF2B5EF4-FFF2-40B4-BE49-F238E27FC236}">
                <a16:creationId xmlns:a16="http://schemas.microsoft.com/office/drawing/2014/main" id="{966C4CF1-9736-A490-D22B-EF1F56454CF6}"/>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2859203" y="5364432"/>
            <a:ext cx="573049" cy="335796"/>
          </a:xfrm>
          <a:prstGeom prst="rect">
            <a:avLst/>
          </a:prstGeom>
        </p:spPr>
      </p:pic>
      <p:sp>
        <p:nvSpPr>
          <p:cNvPr id="83" name="ZoneTexte 82">
            <a:extLst>
              <a:ext uri="{FF2B5EF4-FFF2-40B4-BE49-F238E27FC236}">
                <a16:creationId xmlns:a16="http://schemas.microsoft.com/office/drawing/2014/main" id="{6D9B36F7-CB37-3ED8-8A8B-1452676FF48F}"/>
              </a:ext>
            </a:extLst>
          </p:cNvPr>
          <p:cNvSpPr txBox="1"/>
          <p:nvPr/>
        </p:nvSpPr>
        <p:spPr>
          <a:xfrm>
            <a:off x="1651894" y="5808024"/>
            <a:ext cx="891029" cy="400110"/>
          </a:xfrm>
          <a:prstGeom prst="rect">
            <a:avLst/>
          </a:prstGeom>
          <a:solidFill>
            <a:srgbClr val="CCFFFF"/>
          </a:solidFill>
        </p:spPr>
        <p:txBody>
          <a:bodyPr wrap="square" rtlCol="0">
            <a:spAutoFit/>
          </a:bodyPr>
          <a:lstStyle/>
          <a:p>
            <a:r>
              <a:rPr lang="fr-FR" sz="1000" dirty="0">
                <a:latin typeface="Arial" panose="020B0604020202020204" pitchFamily="34" charset="0"/>
                <a:cs typeface="Arial" panose="020B0604020202020204" pitchFamily="34" charset="0"/>
              </a:rPr>
              <a:t>Drying time </a:t>
            </a:r>
            <a:r>
              <a:rPr lang="fr-FR" sz="1000" dirty="0" err="1">
                <a:latin typeface="Arial" panose="020B0604020202020204" pitchFamily="34" charset="0"/>
                <a:cs typeface="Arial" panose="020B0604020202020204" pitchFamily="34" charset="0"/>
              </a:rPr>
              <a:t>protocol</a:t>
            </a:r>
            <a:endParaRPr lang="fr-FR" sz="1000" dirty="0">
              <a:latin typeface="Arial" panose="020B0604020202020204" pitchFamily="34" charset="0"/>
              <a:cs typeface="Arial" panose="020B0604020202020204" pitchFamily="34" charset="0"/>
            </a:endParaRPr>
          </a:p>
        </p:txBody>
      </p:sp>
      <p:sp>
        <p:nvSpPr>
          <p:cNvPr id="85" name="ZoneTexte 84">
            <a:extLst>
              <a:ext uri="{FF2B5EF4-FFF2-40B4-BE49-F238E27FC236}">
                <a16:creationId xmlns:a16="http://schemas.microsoft.com/office/drawing/2014/main" id="{34C26D3A-F8F1-EF72-8C83-37FFFC0D36A6}"/>
              </a:ext>
            </a:extLst>
          </p:cNvPr>
          <p:cNvSpPr txBox="1"/>
          <p:nvPr/>
        </p:nvSpPr>
        <p:spPr>
          <a:xfrm>
            <a:off x="2736695" y="3429962"/>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10</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pic>
        <p:nvPicPr>
          <p:cNvPr id="91" name="Image 90" descr="Une image contenant sol, trou, cercle, plein air&#10;&#10;Description générée automatiquement">
            <a:extLst>
              <a:ext uri="{FF2B5EF4-FFF2-40B4-BE49-F238E27FC236}">
                <a16:creationId xmlns:a16="http://schemas.microsoft.com/office/drawing/2014/main" id="{2344EA05-08F4-52B6-2750-F808B74B5009}"/>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3997443" y="5368779"/>
            <a:ext cx="573049" cy="335796"/>
          </a:xfrm>
          <a:prstGeom prst="rect">
            <a:avLst/>
          </a:prstGeom>
        </p:spPr>
      </p:pic>
      <p:pic>
        <p:nvPicPr>
          <p:cNvPr id="95" name="Image 94" descr="Une image contenant sol, trou, cercle, plein air&#10;&#10;Description générée automatiquement">
            <a:extLst>
              <a:ext uri="{FF2B5EF4-FFF2-40B4-BE49-F238E27FC236}">
                <a16:creationId xmlns:a16="http://schemas.microsoft.com/office/drawing/2014/main" id="{CA68A1B4-C8CE-C0A8-BDE0-01A5837AF7E2}"/>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5135683" y="5364423"/>
            <a:ext cx="573049" cy="335796"/>
          </a:xfrm>
          <a:prstGeom prst="rect">
            <a:avLst/>
          </a:prstGeom>
        </p:spPr>
      </p:pic>
      <p:pic>
        <p:nvPicPr>
          <p:cNvPr id="99" name="Image 98" descr="Une image contenant sol, trou, cercle, plein air&#10;&#10;Description générée automatiquement">
            <a:extLst>
              <a:ext uri="{FF2B5EF4-FFF2-40B4-BE49-F238E27FC236}">
                <a16:creationId xmlns:a16="http://schemas.microsoft.com/office/drawing/2014/main" id="{D208CFB6-2174-D86C-876A-9ACDF95EF954}"/>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6273923" y="5368774"/>
            <a:ext cx="573049" cy="335796"/>
          </a:xfrm>
          <a:prstGeom prst="rect">
            <a:avLst/>
          </a:prstGeom>
        </p:spPr>
      </p:pic>
      <p:pic>
        <p:nvPicPr>
          <p:cNvPr id="103" name="Image 102" descr="Une image contenant sol, trou, cercle, plein air&#10;&#10;Description générée automatiquement">
            <a:extLst>
              <a:ext uri="{FF2B5EF4-FFF2-40B4-BE49-F238E27FC236}">
                <a16:creationId xmlns:a16="http://schemas.microsoft.com/office/drawing/2014/main" id="{2B517651-7E91-14BA-E123-1625DD58C099}"/>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7412163" y="5364418"/>
            <a:ext cx="573049" cy="335796"/>
          </a:xfrm>
          <a:prstGeom prst="rect">
            <a:avLst/>
          </a:prstGeom>
        </p:spPr>
      </p:pic>
      <p:pic>
        <p:nvPicPr>
          <p:cNvPr id="107" name="Image 106" descr="Une image contenant sol, trou, cercle, plein air&#10;&#10;Description générée automatiquement">
            <a:extLst>
              <a:ext uri="{FF2B5EF4-FFF2-40B4-BE49-F238E27FC236}">
                <a16:creationId xmlns:a16="http://schemas.microsoft.com/office/drawing/2014/main" id="{F405C6CB-8743-4112-4189-CE4C167FED92}"/>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8550403" y="5368765"/>
            <a:ext cx="573049" cy="335796"/>
          </a:xfrm>
          <a:prstGeom prst="rect">
            <a:avLst/>
          </a:prstGeom>
        </p:spPr>
      </p:pic>
      <p:pic>
        <p:nvPicPr>
          <p:cNvPr id="111" name="Image 110" descr="Une image contenant sol, trou, cercle, plein air&#10;&#10;Description générée automatiquement">
            <a:extLst>
              <a:ext uri="{FF2B5EF4-FFF2-40B4-BE49-F238E27FC236}">
                <a16:creationId xmlns:a16="http://schemas.microsoft.com/office/drawing/2014/main" id="{DB7FEEB0-9D72-F0D9-EB27-E573222F6681}"/>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9688643" y="5364407"/>
            <a:ext cx="573049" cy="335796"/>
          </a:xfrm>
          <a:prstGeom prst="rect">
            <a:avLst/>
          </a:prstGeom>
        </p:spPr>
      </p:pic>
      <p:pic>
        <p:nvPicPr>
          <p:cNvPr id="115" name="Image 114" descr="Une image contenant sol, trou, cercle, plein air&#10;&#10;Description générée automatiquement">
            <a:extLst>
              <a:ext uri="{FF2B5EF4-FFF2-40B4-BE49-F238E27FC236}">
                <a16:creationId xmlns:a16="http://schemas.microsoft.com/office/drawing/2014/main" id="{D956A5AD-D6E1-D94D-15BF-D826827E0D15}"/>
              </a:ext>
            </a:extLst>
          </p:cNvPr>
          <p:cNvPicPr>
            <a:picLocks noChangeAspect="1"/>
          </p:cNvPicPr>
          <p:nvPr/>
        </p:nvPicPr>
        <p:blipFill rotWithShape="1">
          <a:blip r:embed="rId3">
            <a:extLst>
              <a:ext uri="{28A0092B-C50C-407E-A947-70E740481C1C}">
                <a14:useLocalDpi xmlns:a14="http://schemas.microsoft.com/office/drawing/2010/main" val="0"/>
              </a:ext>
            </a:extLst>
          </a:blip>
          <a:srcRect t="15751" b="14938"/>
          <a:stretch/>
        </p:blipFill>
        <p:spPr>
          <a:xfrm>
            <a:off x="10826884" y="5377469"/>
            <a:ext cx="573049" cy="335796"/>
          </a:xfrm>
          <a:prstGeom prst="rect">
            <a:avLst/>
          </a:prstGeom>
        </p:spPr>
      </p:pic>
      <p:sp>
        <p:nvSpPr>
          <p:cNvPr id="118" name="ZoneTexte 117">
            <a:extLst>
              <a:ext uri="{FF2B5EF4-FFF2-40B4-BE49-F238E27FC236}">
                <a16:creationId xmlns:a16="http://schemas.microsoft.com/office/drawing/2014/main" id="{EACB6360-ED49-6130-5527-0E8594062A90}"/>
              </a:ext>
            </a:extLst>
          </p:cNvPr>
          <p:cNvSpPr txBox="1"/>
          <p:nvPr/>
        </p:nvSpPr>
        <p:spPr>
          <a:xfrm>
            <a:off x="3855749"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19" name="ZoneTexte 118">
            <a:extLst>
              <a:ext uri="{FF2B5EF4-FFF2-40B4-BE49-F238E27FC236}">
                <a16:creationId xmlns:a16="http://schemas.microsoft.com/office/drawing/2014/main" id="{A2FED864-D61C-0EFF-4E52-37C00FF9E23A}"/>
              </a:ext>
            </a:extLst>
          </p:cNvPr>
          <p:cNvSpPr txBox="1"/>
          <p:nvPr/>
        </p:nvSpPr>
        <p:spPr>
          <a:xfrm>
            <a:off x="2767144" y="4501131"/>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habitats</a:t>
            </a:r>
          </a:p>
        </p:txBody>
      </p:sp>
      <p:sp>
        <p:nvSpPr>
          <p:cNvPr id="120" name="ZoneTexte 119">
            <a:extLst>
              <a:ext uri="{FF2B5EF4-FFF2-40B4-BE49-F238E27FC236}">
                <a16:creationId xmlns:a16="http://schemas.microsoft.com/office/drawing/2014/main" id="{23703722-53FA-5B84-029C-BFA0671FB9B7}"/>
              </a:ext>
            </a:extLst>
          </p:cNvPr>
          <p:cNvSpPr txBox="1"/>
          <p:nvPr/>
        </p:nvSpPr>
        <p:spPr>
          <a:xfrm>
            <a:off x="3838309" y="4501131"/>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21" name="ZoneTexte 120">
            <a:extLst>
              <a:ext uri="{FF2B5EF4-FFF2-40B4-BE49-F238E27FC236}">
                <a16:creationId xmlns:a16="http://schemas.microsoft.com/office/drawing/2014/main" id="{0412396B-7239-5781-AD79-13D2597C50A5}"/>
              </a:ext>
            </a:extLst>
          </p:cNvPr>
          <p:cNvSpPr txBox="1"/>
          <p:nvPr/>
        </p:nvSpPr>
        <p:spPr>
          <a:xfrm>
            <a:off x="1778219" y="5189356"/>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200</a:t>
            </a:r>
          </a:p>
        </p:txBody>
      </p:sp>
      <p:sp>
        <p:nvSpPr>
          <p:cNvPr id="122" name="ZoneTexte 121">
            <a:extLst>
              <a:ext uri="{FF2B5EF4-FFF2-40B4-BE49-F238E27FC236}">
                <a16:creationId xmlns:a16="http://schemas.microsoft.com/office/drawing/2014/main" id="{31411BD8-1B7C-F58F-EE9C-8D04916B2516}"/>
              </a:ext>
            </a:extLst>
          </p:cNvPr>
          <p:cNvSpPr txBox="1"/>
          <p:nvPr/>
        </p:nvSpPr>
        <p:spPr>
          <a:xfrm>
            <a:off x="2905982" y="5193709"/>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344</a:t>
            </a:r>
          </a:p>
        </p:txBody>
      </p:sp>
      <p:sp>
        <p:nvSpPr>
          <p:cNvPr id="123" name="ZoneTexte 122">
            <a:extLst>
              <a:ext uri="{FF2B5EF4-FFF2-40B4-BE49-F238E27FC236}">
                <a16:creationId xmlns:a16="http://schemas.microsoft.com/office/drawing/2014/main" id="{F2817B08-8FD4-9376-7A8C-450279AADA9A}"/>
              </a:ext>
            </a:extLst>
          </p:cNvPr>
          <p:cNvSpPr txBox="1"/>
          <p:nvPr/>
        </p:nvSpPr>
        <p:spPr>
          <a:xfrm>
            <a:off x="4051163" y="5189348"/>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4" name="ZoneTexte 123">
            <a:extLst>
              <a:ext uri="{FF2B5EF4-FFF2-40B4-BE49-F238E27FC236}">
                <a16:creationId xmlns:a16="http://schemas.microsoft.com/office/drawing/2014/main" id="{BA09713C-060D-73F7-94CE-744D91EE13BD}"/>
              </a:ext>
            </a:extLst>
          </p:cNvPr>
          <p:cNvSpPr txBox="1"/>
          <p:nvPr/>
        </p:nvSpPr>
        <p:spPr>
          <a:xfrm>
            <a:off x="5187634" y="5193695"/>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5" name="ZoneTexte 124">
            <a:extLst>
              <a:ext uri="{FF2B5EF4-FFF2-40B4-BE49-F238E27FC236}">
                <a16:creationId xmlns:a16="http://schemas.microsoft.com/office/drawing/2014/main" id="{419CF932-C211-54FC-3BDB-B59ABC12D141}"/>
              </a:ext>
            </a:extLst>
          </p:cNvPr>
          <p:cNvSpPr txBox="1"/>
          <p:nvPr/>
        </p:nvSpPr>
        <p:spPr>
          <a:xfrm>
            <a:off x="6324105" y="5189333"/>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6" name="ZoneTexte 125">
            <a:extLst>
              <a:ext uri="{FF2B5EF4-FFF2-40B4-BE49-F238E27FC236}">
                <a16:creationId xmlns:a16="http://schemas.microsoft.com/office/drawing/2014/main" id="{6BF059A9-E049-C578-F971-5B125B2EAE81}"/>
              </a:ext>
            </a:extLst>
          </p:cNvPr>
          <p:cNvSpPr txBox="1"/>
          <p:nvPr/>
        </p:nvSpPr>
        <p:spPr>
          <a:xfrm>
            <a:off x="7460574" y="5184977"/>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7" name="ZoneTexte 126">
            <a:extLst>
              <a:ext uri="{FF2B5EF4-FFF2-40B4-BE49-F238E27FC236}">
                <a16:creationId xmlns:a16="http://schemas.microsoft.com/office/drawing/2014/main" id="{C905D14A-E5AE-F00A-6EBC-9757AD94794A}"/>
              </a:ext>
            </a:extLst>
          </p:cNvPr>
          <p:cNvSpPr txBox="1"/>
          <p:nvPr/>
        </p:nvSpPr>
        <p:spPr>
          <a:xfrm>
            <a:off x="8605757" y="5180615"/>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8" name="ZoneTexte 127">
            <a:extLst>
              <a:ext uri="{FF2B5EF4-FFF2-40B4-BE49-F238E27FC236}">
                <a16:creationId xmlns:a16="http://schemas.microsoft.com/office/drawing/2014/main" id="{0381BE1F-5EE7-E0D6-F1BB-792E487DEE19}"/>
              </a:ext>
            </a:extLst>
          </p:cNvPr>
          <p:cNvSpPr txBox="1"/>
          <p:nvPr/>
        </p:nvSpPr>
        <p:spPr>
          <a:xfrm>
            <a:off x="9742229" y="5184962"/>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29" name="ZoneTexte 128">
            <a:extLst>
              <a:ext uri="{FF2B5EF4-FFF2-40B4-BE49-F238E27FC236}">
                <a16:creationId xmlns:a16="http://schemas.microsoft.com/office/drawing/2014/main" id="{B067E594-0CAE-B9F5-C02F-8DDA61A42A6E}"/>
              </a:ext>
            </a:extLst>
          </p:cNvPr>
          <p:cNvSpPr txBox="1"/>
          <p:nvPr/>
        </p:nvSpPr>
        <p:spPr>
          <a:xfrm>
            <a:off x="10878702" y="5180608"/>
            <a:ext cx="469236"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404</a:t>
            </a:r>
          </a:p>
        </p:txBody>
      </p:sp>
      <p:sp>
        <p:nvSpPr>
          <p:cNvPr id="133" name="ZoneTexte 132">
            <a:extLst>
              <a:ext uri="{FF2B5EF4-FFF2-40B4-BE49-F238E27FC236}">
                <a16:creationId xmlns:a16="http://schemas.microsoft.com/office/drawing/2014/main" id="{22CC5E63-912C-AEEF-FCCE-39BEEF3A0323}"/>
              </a:ext>
            </a:extLst>
          </p:cNvPr>
          <p:cNvSpPr txBox="1"/>
          <p:nvPr/>
        </p:nvSpPr>
        <p:spPr>
          <a:xfrm>
            <a:off x="4989317"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34" name="ZoneTexte 133">
            <a:extLst>
              <a:ext uri="{FF2B5EF4-FFF2-40B4-BE49-F238E27FC236}">
                <a16:creationId xmlns:a16="http://schemas.microsoft.com/office/drawing/2014/main" id="{A89017A4-B8BC-1856-39DE-22974A8B521E}"/>
              </a:ext>
            </a:extLst>
          </p:cNvPr>
          <p:cNvSpPr txBox="1"/>
          <p:nvPr/>
        </p:nvSpPr>
        <p:spPr>
          <a:xfrm>
            <a:off x="4983484" y="4496774"/>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35" name="ZoneTexte 134">
            <a:extLst>
              <a:ext uri="{FF2B5EF4-FFF2-40B4-BE49-F238E27FC236}">
                <a16:creationId xmlns:a16="http://schemas.microsoft.com/office/drawing/2014/main" id="{68E2CEA3-464F-F58B-96B1-A19EA078E328}"/>
              </a:ext>
            </a:extLst>
          </p:cNvPr>
          <p:cNvSpPr txBox="1"/>
          <p:nvPr/>
        </p:nvSpPr>
        <p:spPr>
          <a:xfrm>
            <a:off x="6122885"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36" name="ZoneTexte 135">
            <a:extLst>
              <a:ext uri="{FF2B5EF4-FFF2-40B4-BE49-F238E27FC236}">
                <a16:creationId xmlns:a16="http://schemas.microsoft.com/office/drawing/2014/main" id="{C1C88337-BCBE-EDEE-5035-15737D1EEF76}"/>
              </a:ext>
            </a:extLst>
          </p:cNvPr>
          <p:cNvSpPr txBox="1"/>
          <p:nvPr/>
        </p:nvSpPr>
        <p:spPr>
          <a:xfrm>
            <a:off x="6119952" y="4501127"/>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37" name="ZoneTexte 136">
            <a:extLst>
              <a:ext uri="{FF2B5EF4-FFF2-40B4-BE49-F238E27FC236}">
                <a16:creationId xmlns:a16="http://schemas.microsoft.com/office/drawing/2014/main" id="{2D2AB89C-29D0-F4D7-A88B-8D76A0965813}"/>
              </a:ext>
            </a:extLst>
          </p:cNvPr>
          <p:cNvSpPr txBox="1"/>
          <p:nvPr/>
        </p:nvSpPr>
        <p:spPr>
          <a:xfrm>
            <a:off x="7256453"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38" name="ZoneTexte 137">
            <a:extLst>
              <a:ext uri="{FF2B5EF4-FFF2-40B4-BE49-F238E27FC236}">
                <a16:creationId xmlns:a16="http://schemas.microsoft.com/office/drawing/2014/main" id="{CE456A10-9F3C-711F-2601-724F4945A87A}"/>
              </a:ext>
            </a:extLst>
          </p:cNvPr>
          <p:cNvSpPr txBox="1"/>
          <p:nvPr/>
        </p:nvSpPr>
        <p:spPr>
          <a:xfrm>
            <a:off x="7247718" y="4496769"/>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39" name="ZoneTexte 138">
            <a:extLst>
              <a:ext uri="{FF2B5EF4-FFF2-40B4-BE49-F238E27FC236}">
                <a16:creationId xmlns:a16="http://schemas.microsoft.com/office/drawing/2014/main" id="{9F8DD080-6765-BC5E-96DE-8B90DFD9D902}"/>
              </a:ext>
            </a:extLst>
          </p:cNvPr>
          <p:cNvSpPr txBox="1"/>
          <p:nvPr/>
        </p:nvSpPr>
        <p:spPr>
          <a:xfrm>
            <a:off x="8390021"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40" name="ZoneTexte 139">
            <a:extLst>
              <a:ext uri="{FF2B5EF4-FFF2-40B4-BE49-F238E27FC236}">
                <a16:creationId xmlns:a16="http://schemas.microsoft.com/office/drawing/2014/main" id="{39D73ED5-59E0-64E0-7223-CAB1A6EE4E11}"/>
              </a:ext>
            </a:extLst>
          </p:cNvPr>
          <p:cNvSpPr txBox="1"/>
          <p:nvPr/>
        </p:nvSpPr>
        <p:spPr>
          <a:xfrm>
            <a:off x="8384191" y="4501123"/>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41" name="ZoneTexte 140">
            <a:extLst>
              <a:ext uri="{FF2B5EF4-FFF2-40B4-BE49-F238E27FC236}">
                <a16:creationId xmlns:a16="http://schemas.microsoft.com/office/drawing/2014/main" id="{04253537-3B67-4C39-5023-7BC04BF676D2}"/>
              </a:ext>
            </a:extLst>
          </p:cNvPr>
          <p:cNvSpPr txBox="1"/>
          <p:nvPr/>
        </p:nvSpPr>
        <p:spPr>
          <a:xfrm>
            <a:off x="9523589"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42" name="ZoneTexte 141">
            <a:extLst>
              <a:ext uri="{FF2B5EF4-FFF2-40B4-BE49-F238E27FC236}">
                <a16:creationId xmlns:a16="http://schemas.microsoft.com/office/drawing/2014/main" id="{AD44A8F5-BAD6-3E34-C5FC-4002B60A6DEB}"/>
              </a:ext>
            </a:extLst>
          </p:cNvPr>
          <p:cNvSpPr txBox="1"/>
          <p:nvPr/>
        </p:nvSpPr>
        <p:spPr>
          <a:xfrm>
            <a:off x="9518752" y="4496761"/>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43" name="ZoneTexte 142">
            <a:extLst>
              <a:ext uri="{FF2B5EF4-FFF2-40B4-BE49-F238E27FC236}">
                <a16:creationId xmlns:a16="http://schemas.microsoft.com/office/drawing/2014/main" id="{ECB14FB0-7BF2-71DE-0F53-FDAC42FE9054}"/>
              </a:ext>
            </a:extLst>
          </p:cNvPr>
          <p:cNvSpPr txBox="1"/>
          <p:nvPr/>
        </p:nvSpPr>
        <p:spPr>
          <a:xfrm>
            <a:off x="10657159" y="3424567"/>
            <a:ext cx="981348" cy="707886"/>
          </a:xfrm>
          <a:prstGeom prst="rect">
            <a:avLst/>
          </a:prstGeom>
          <a:solidFill>
            <a:schemeClr val="accent4">
              <a:lumMod val="20000"/>
              <a:lumOff val="80000"/>
            </a:schemeClr>
          </a:solidFill>
        </p:spPr>
        <p:txBody>
          <a:bodyPr wrap="square" rtlCol="0">
            <a:spAutoFit/>
          </a:bodyPr>
          <a:lstStyle/>
          <a:p>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survey</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11</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
        <p:nvSpPr>
          <p:cNvPr id="144" name="ZoneTexte 143">
            <a:extLst>
              <a:ext uri="{FF2B5EF4-FFF2-40B4-BE49-F238E27FC236}">
                <a16:creationId xmlns:a16="http://schemas.microsoft.com/office/drawing/2014/main" id="{33A063BD-F5E7-D562-BBC0-1F2E07D820ED}"/>
              </a:ext>
            </a:extLst>
          </p:cNvPr>
          <p:cNvSpPr txBox="1"/>
          <p:nvPr/>
        </p:nvSpPr>
        <p:spPr>
          <a:xfrm>
            <a:off x="10639719" y="4501111"/>
            <a:ext cx="981349" cy="246221"/>
          </a:xfrm>
          <a:prstGeom prst="rect">
            <a:avLst/>
          </a:prstGeom>
          <a:solidFill>
            <a:schemeClr val="accent6">
              <a:lumMod val="20000"/>
              <a:lumOff val="80000"/>
            </a:schemeClr>
          </a:solidFill>
        </p:spPr>
        <p:txBody>
          <a:bodyPr wrap="square" rtlCol="0">
            <a:spAutoFit/>
          </a:bodyPr>
          <a:lstStyle/>
          <a:p>
            <a:r>
              <a:rPr lang="fr-FR" sz="1000" b="1" dirty="0">
                <a:latin typeface="Arial" panose="020B0604020202020204" pitchFamily="34" charset="0"/>
                <a:cs typeface="Arial" panose="020B0604020202020204" pitchFamily="34" charset="0"/>
              </a:rPr>
              <a:t>7</a:t>
            </a:r>
            <a:r>
              <a:rPr lang="fr-FR" sz="1000" dirty="0">
                <a:latin typeface="Arial" panose="020B0604020202020204" pitchFamily="34" charset="0"/>
                <a:cs typeface="Arial" panose="020B0604020202020204" pitchFamily="34" charset="0"/>
              </a:rPr>
              <a:t> habitats</a:t>
            </a:r>
          </a:p>
        </p:txBody>
      </p:sp>
      <p:sp>
        <p:nvSpPr>
          <p:cNvPr id="145" name="ZoneTexte 144">
            <a:extLst>
              <a:ext uri="{FF2B5EF4-FFF2-40B4-BE49-F238E27FC236}">
                <a16:creationId xmlns:a16="http://schemas.microsoft.com/office/drawing/2014/main" id="{4D370C24-A930-98E1-1866-ED472DA7B3C8}"/>
              </a:ext>
            </a:extLst>
          </p:cNvPr>
          <p:cNvSpPr txBox="1"/>
          <p:nvPr/>
        </p:nvSpPr>
        <p:spPr>
          <a:xfrm>
            <a:off x="1347142" y="5189356"/>
            <a:ext cx="550122" cy="276999"/>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Traps</a:t>
            </a:r>
          </a:p>
        </p:txBody>
      </p:sp>
      <p:sp>
        <p:nvSpPr>
          <p:cNvPr id="147" name="ZoneTexte 146">
            <a:extLst>
              <a:ext uri="{FF2B5EF4-FFF2-40B4-BE49-F238E27FC236}">
                <a16:creationId xmlns:a16="http://schemas.microsoft.com/office/drawing/2014/main" id="{608CE43C-264A-DEAD-0405-99D3100953A5}"/>
              </a:ext>
            </a:extLst>
          </p:cNvPr>
          <p:cNvSpPr txBox="1"/>
          <p:nvPr/>
        </p:nvSpPr>
        <p:spPr>
          <a:xfrm>
            <a:off x="2767144"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48" name="ZoneTexte 147">
            <a:extLst>
              <a:ext uri="{FF2B5EF4-FFF2-40B4-BE49-F238E27FC236}">
                <a16:creationId xmlns:a16="http://schemas.microsoft.com/office/drawing/2014/main" id="{5B9CE4A7-1675-CBFA-BD0E-296F6D8BD4E5}"/>
              </a:ext>
            </a:extLst>
          </p:cNvPr>
          <p:cNvSpPr txBox="1"/>
          <p:nvPr/>
        </p:nvSpPr>
        <p:spPr>
          <a:xfrm>
            <a:off x="3838309"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49" name="ZoneTexte 148">
            <a:extLst>
              <a:ext uri="{FF2B5EF4-FFF2-40B4-BE49-F238E27FC236}">
                <a16:creationId xmlns:a16="http://schemas.microsoft.com/office/drawing/2014/main" id="{B4BE9765-D6D3-F8CF-9E34-0E40B388FF88}"/>
              </a:ext>
            </a:extLst>
          </p:cNvPr>
          <p:cNvSpPr txBox="1"/>
          <p:nvPr/>
        </p:nvSpPr>
        <p:spPr>
          <a:xfrm>
            <a:off x="4983484"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50" name="ZoneTexte 149">
            <a:extLst>
              <a:ext uri="{FF2B5EF4-FFF2-40B4-BE49-F238E27FC236}">
                <a16:creationId xmlns:a16="http://schemas.microsoft.com/office/drawing/2014/main" id="{AB77A4EF-E413-A4D3-9903-5F2EB68986DD}"/>
              </a:ext>
            </a:extLst>
          </p:cNvPr>
          <p:cNvSpPr txBox="1"/>
          <p:nvPr/>
        </p:nvSpPr>
        <p:spPr>
          <a:xfrm>
            <a:off x="6119952"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51" name="ZoneTexte 150">
            <a:extLst>
              <a:ext uri="{FF2B5EF4-FFF2-40B4-BE49-F238E27FC236}">
                <a16:creationId xmlns:a16="http://schemas.microsoft.com/office/drawing/2014/main" id="{32126CBE-364D-57C2-4353-5D1DC1F46661}"/>
              </a:ext>
            </a:extLst>
          </p:cNvPr>
          <p:cNvSpPr txBox="1"/>
          <p:nvPr/>
        </p:nvSpPr>
        <p:spPr>
          <a:xfrm>
            <a:off x="7247718"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52" name="ZoneTexte 151">
            <a:extLst>
              <a:ext uri="{FF2B5EF4-FFF2-40B4-BE49-F238E27FC236}">
                <a16:creationId xmlns:a16="http://schemas.microsoft.com/office/drawing/2014/main" id="{8213B9B9-F65A-839A-1B7E-3737C8F9D8F0}"/>
              </a:ext>
            </a:extLst>
          </p:cNvPr>
          <p:cNvSpPr txBox="1"/>
          <p:nvPr/>
        </p:nvSpPr>
        <p:spPr>
          <a:xfrm>
            <a:off x="8384191"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53" name="ZoneTexte 152">
            <a:extLst>
              <a:ext uri="{FF2B5EF4-FFF2-40B4-BE49-F238E27FC236}">
                <a16:creationId xmlns:a16="http://schemas.microsoft.com/office/drawing/2014/main" id="{6866C482-2E2D-A7F5-4D25-8CFE6F146C4C}"/>
              </a:ext>
            </a:extLst>
          </p:cNvPr>
          <p:cNvSpPr txBox="1"/>
          <p:nvPr/>
        </p:nvSpPr>
        <p:spPr>
          <a:xfrm>
            <a:off x="9518752"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sp>
        <p:nvSpPr>
          <p:cNvPr id="154" name="ZoneTexte 153">
            <a:extLst>
              <a:ext uri="{FF2B5EF4-FFF2-40B4-BE49-F238E27FC236}">
                <a16:creationId xmlns:a16="http://schemas.microsoft.com/office/drawing/2014/main" id="{6C9DF15E-5E85-5EB0-E0AD-228FE6329A73}"/>
              </a:ext>
            </a:extLst>
          </p:cNvPr>
          <p:cNvSpPr txBox="1"/>
          <p:nvPr/>
        </p:nvSpPr>
        <p:spPr>
          <a:xfrm>
            <a:off x="10639719" y="4271997"/>
            <a:ext cx="1088605" cy="246221"/>
          </a:xfrm>
          <a:prstGeom prst="rect">
            <a:avLst/>
          </a:prstGeom>
          <a:noFill/>
        </p:spPr>
        <p:txBody>
          <a:bodyPr wrap="square" rtlCol="0">
            <a:spAutoFit/>
          </a:bodyPr>
          <a:lstStyle/>
          <a:p>
            <a:r>
              <a:rPr lang="fr-FR" sz="1000" b="1" dirty="0">
                <a:latin typeface="Arial" panose="020B0604020202020204" pitchFamily="34" charset="0"/>
                <a:cs typeface="Arial" panose="020B0604020202020204" pitchFamily="34" charset="0"/>
              </a:rPr>
              <a:t>4</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fenced</a:t>
            </a:r>
            <a:r>
              <a:rPr lang="fr-FR" sz="1000" dirty="0">
                <a:latin typeface="Arial" panose="020B0604020202020204" pitchFamily="34" charset="0"/>
                <a:cs typeface="Arial" panose="020B0604020202020204" pitchFamily="34" charset="0"/>
              </a:rPr>
              <a:t> areas</a:t>
            </a:r>
          </a:p>
        </p:txBody>
      </p:sp>
      <p:cxnSp>
        <p:nvCxnSpPr>
          <p:cNvPr id="155" name="Connecteur droit avec flèche 154">
            <a:extLst>
              <a:ext uri="{FF2B5EF4-FFF2-40B4-BE49-F238E27FC236}">
                <a16:creationId xmlns:a16="http://schemas.microsoft.com/office/drawing/2014/main" id="{37D8553A-91B3-B35D-772C-A4E99ECF56A9}"/>
              </a:ext>
            </a:extLst>
          </p:cNvPr>
          <p:cNvCxnSpPr>
            <a:cxnSpLocks/>
          </p:cNvCxnSpPr>
          <p:nvPr/>
        </p:nvCxnSpPr>
        <p:spPr>
          <a:xfrm flipV="1">
            <a:off x="341407" y="5207730"/>
            <a:ext cx="11173097" cy="17418"/>
          </a:xfrm>
          <a:prstGeom prst="straightConnector1">
            <a:avLst/>
          </a:prstGeom>
          <a:ln w="7620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B5BB006D-C0C8-7ED1-C700-66D74649CB8B}"/>
              </a:ext>
            </a:extLst>
          </p:cNvPr>
          <p:cNvCxnSpPr>
            <a:cxnSpLocks/>
          </p:cNvCxnSpPr>
          <p:nvPr/>
        </p:nvCxnSpPr>
        <p:spPr>
          <a:xfrm>
            <a:off x="1508587"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6DDF8BBF-1610-7124-4B1A-A33E833E431B}"/>
              </a:ext>
            </a:extLst>
          </p:cNvPr>
          <p:cNvCxnSpPr>
            <a:cxnSpLocks/>
          </p:cNvCxnSpPr>
          <p:nvPr/>
        </p:nvCxnSpPr>
        <p:spPr>
          <a:xfrm>
            <a:off x="2649153"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580A0484-88D8-D9A8-1DDE-284AF5F35DA9}"/>
              </a:ext>
            </a:extLst>
          </p:cNvPr>
          <p:cNvCxnSpPr>
            <a:cxnSpLocks/>
          </p:cNvCxnSpPr>
          <p:nvPr/>
        </p:nvCxnSpPr>
        <p:spPr>
          <a:xfrm>
            <a:off x="3789719"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D3546DCB-532D-9ADA-056C-68937003B479}"/>
              </a:ext>
            </a:extLst>
          </p:cNvPr>
          <p:cNvCxnSpPr>
            <a:cxnSpLocks/>
          </p:cNvCxnSpPr>
          <p:nvPr/>
        </p:nvCxnSpPr>
        <p:spPr>
          <a:xfrm>
            <a:off x="4930285"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AF013DFB-67BC-0888-9EAF-2B108D4D3A7A}"/>
              </a:ext>
            </a:extLst>
          </p:cNvPr>
          <p:cNvCxnSpPr>
            <a:cxnSpLocks/>
          </p:cNvCxnSpPr>
          <p:nvPr/>
        </p:nvCxnSpPr>
        <p:spPr>
          <a:xfrm>
            <a:off x="6070851"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80780962-4822-B4C2-61B3-00A68F04FCE2}"/>
              </a:ext>
            </a:extLst>
          </p:cNvPr>
          <p:cNvCxnSpPr>
            <a:cxnSpLocks/>
          </p:cNvCxnSpPr>
          <p:nvPr/>
        </p:nvCxnSpPr>
        <p:spPr>
          <a:xfrm>
            <a:off x="7211417"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2CF27F64-37CF-AB99-3AEE-72313B3D25A0}"/>
              </a:ext>
            </a:extLst>
          </p:cNvPr>
          <p:cNvCxnSpPr>
            <a:cxnSpLocks/>
          </p:cNvCxnSpPr>
          <p:nvPr/>
        </p:nvCxnSpPr>
        <p:spPr>
          <a:xfrm>
            <a:off x="8351983"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5FEC732A-72AF-7E29-CB58-D428978AD642}"/>
              </a:ext>
            </a:extLst>
          </p:cNvPr>
          <p:cNvCxnSpPr>
            <a:cxnSpLocks/>
          </p:cNvCxnSpPr>
          <p:nvPr/>
        </p:nvCxnSpPr>
        <p:spPr>
          <a:xfrm>
            <a:off x="9492549"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F104FA00-A120-4C16-D4F4-D9F80B5FD158}"/>
              </a:ext>
            </a:extLst>
          </p:cNvPr>
          <p:cNvCxnSpPr>
            <a:cxnSpLocks/>
          </p:cNvCxnSpPr>
          <p:nvPr/>
        </p:nvCxnSpPr>
        <p:spPr>
          <a:xfrm>
            <a:off x="10633112" y="4972599"/>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0" name="Connecteur droit 169">
            <a:extLst>
              <a:ext uri="{FF2B5EF4-FFF2-40B4-BE49-F238E27FC236}">
                <a16:creationId xmlns:a16="http://schemas.microsoft.com/office/drawing/2014/main" id="{44FCB56B-1C4F-AC7B-971D-41766FCAFBB2}"/>
              </a:ext>
            </a:extLst>
          </p:cNvPr>
          <p:cNvCxnSpPr>
            <a:cxnSpLocks/>
          </p:cNvCxnSpPr>
          <p:nvPr/>
        </p:nvCxnSpPr>
        <p:spPr>
          <a:xfrm>
            <a:off x="368021" y="4968241"/>
            <a:ext cx="0" cy="25254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DA0EBFE9-0C9B-3A71-5689-EE8355BD0F26}"/>
              </a:ext>
            </a:extLst>
          </p:cNvPr>
          <p:cNvSpPr txBox="1"/>
          <p:nvPr/>
        </p:nvSpPr>
        <p:spPr>
          <a:xfrm>
            <a:off x="1582247" y="3439878"/>
            <a:ext cx="1029222" cy="861774"/>
          </a:xfrm>
          <a:prstGeom prst="rect">
            <a:avLst/>
          </a:prstGeom>
          <a:solidFill>
            <a:schemeClr val="accent4">
              <a:lumMod val="20000"/>
              <a:lumOff val="80000"/>
            </a:schemeClr>
          </a:solidFill>
        </p:spPr>
        <p:txBody>
          <a:bodyPr wrap="square" rtlCol="0">
            <a:spAutoFit/>
          </a:bodyPr>
          <a:lstStyle/>
          <a:p>
            <a:r>
              <a:rPr lang="fr-FR" sz="1000" dirty="0">
                <a:latin typeface="Arial" panose="020B0604020202020204" pitchFamily="34" charset="0"/>
                <a:cs typeface="Arial" panose="020B0604020202020204" pitchFamily="34" charset="0"/>
              </a:rPr>
              <a:t>First </a:t>
            </a:r>
            <a:r>
              <a:rPr lang="fr-FR" sz="1000" dirty="0" err="1">
                <a:latin typeface="Arial" panose="020B0604020202020204" pitchFamily="34" charset="0"/>
                <a:cs typeface="Arial" panose="020B0604020202020204" pitchFamily="34" charset="0"/>
              </a:rPr>
              <a:t>trapping</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implemented</a:t>
            </a:r>
            <a:r>
              <a:rPr lang="fr-FR" sz="1000" dirty="0">
                <a:latin typeface="Arial" panose="020B0604020202020204" pitchFamily="34" charset="0"/>
                <a:cs typeface="Arial" panose="020B0604020202020204" pitchFamily="34" charset="0"/>
              </a:rPr>
              <a:t> on </a:t>
            </a:r>
            <a:r>
              <a:rPr lang="fr-FR" sz="1000" b="1" dirty="0">
                <a:latin typeface="Arial" panose="020B0604020202020204" pitchFamily="34" charset="0"/>
                <a:cs typeface="Arial" panose="020B0604020202020204" pitchFamily="34" charset="0"/>
              </a:rPr>
              <a:t>10</a:t>
            </a:r>
            <a:r>
              <a:rPr lang="fr-FR" sz="1000" dirty="0">
                <a:latin typeface="Arial" panose="020B0604020202020204" pitchFamily="34" charset="0"/>
                <a:cs typeface="Arial" panose="020B0604020202020204" pitchFamily="34" charset="0"/>
              </a:rPr>
              <a:t> </a:t>
            </a:r>
            <a:r>
              <a:rPr lang="fr-FR" sz="1000" dirty="0" err="1">
                <a:latin typeface="Arial" panose="020B0604020202020204" pitchFamily="34" charset="0"/>
                <a:cs typeface="Arial" panose="020B0604020202020204" pitchFamily="34" charset="0"/>
              </a:rPr>
              <a:t>study</a:t>
            </a:r>
            <a:r>
              <a:rPr lang="fr-FR" sz="1000" dirty="0">
                <a:latin typeface="Arial" panose="020B0604020202020204" pitchFamily="34" charset="0"/>
                <a:cs typeface="Arial" panose="020B0604020202020204" pitchFamily="34" charset="0"/>
              </a:rPr>
              <a:t> squares (</a:t>
            </a:r>
            <a:r>
              <a:rPr lang="fr-FR" sz="1000" dirty="0" err="1">
                <a:latin typeface="Arial" panose="020B0604020202020204" pitchFamily="34" charset="0"/>
                <a:cs typeface="Arial" panose="020B0604020202020204" pitchFamily="34" charset="0"/>
              </a:rPr>
              <a:t>Eastern</a:t>
            </a:r>
            <a:r>
              <a:rPr lang="fr-FR" sz="1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91242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964C0D9D-56EA-487C-B801-B1AF8B800006}"/>
              </a:ext>
            </a:extLst>
          </p:cNvPr>
          <p:cNvSpPr>
            <a:spLocks noGrp="1"/>
          </p:cNvSpPr>
          <p:nvPr>
            <p:ph idx="1"/>
          </p:nvPr>
        </p:nvSpPr>
        <p:spPr/>
        <p:txBody>
          <a:bodyPr>
            <a:normAutofit/>
          </a:body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Human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resource</a:t>
            </a:r>
            <a:endPar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endParaRP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7</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8" name="ZoneTexte 7">
            <a:extLst>
              <a:ext uri="{FF2B5EF4-FFF2-40B4-BE49-F238E27FC236}">
                <a16:creationId xmlns:a16="http://schemas.microsoft.com/office/drawing/2014/main" id="{6A888391-4647-60B5-2C40-37DE81695C96}"/>
              </a:ext>
            </a:extLst>
          </p:cNvPr>
          <p:cNvSpPr txBox="1"/>
          <p:nvPr/>
        </p:nvSpPr>
        <p:spPr>
          <a:xfrm>
            <a:off x="853439" y="2708366"/>
            <a:ext cx="2821577" cy="369332"/>
          </a:xfrm>
          <a:prstGeom prst="rect">
            <a:avLst/>
          </a:prstGeom>
          <a:noFill/>
        </p:spPr>
        <p:txBody>
          <a:bodyPr wrap="square" rtlCol="0">
            <a:spAutoFit/>
          </a:bodyPr>
          <a:lstStyle/>
          <a:p>
            <a:r>
              <a:rPr lang="fr-FR" dirty="0"/>
              <a:t>8 </a:t>
            </a:r>
            <a:r>
              <a:rPr lang="fr-FR" dirty="0" err="1"/>
              <a:t>fieldworkers</a:t>
            </a:r>
            <a:endParaRPr lang="fr-FR" dirty="0"/>
          </a:p>
        </p:txBody>
      </p:sp>
      <p:sp>
        <p:nvSpPr>
          <p:cNvPr id="9" name="ZoneTexte 8">
            <a:extLst>
              <a:ext uri="{FF2B5EF4-FFF2-40B4-BE49-F238E27FC236}">
                <a16:creationId xmlns:a16="http://schemas.microsoft.com/office/drawing/2014/main" id="{F2969953-DE7C-6891-D4B7-86BD1E80EC50}"/>
              </a:ext>
            </a:extLst>
          </p:cNvPr>
          <p:cNvSpPr txBox="1"/>
          <p:nvPr/>
        </p:nvSpPr>
        <p:spPr>
          <a:xfrm>
            <a:off x="853439" y="3054527"/>
            <a:ext cx="2821577" cy="369332"/>
          </a:xfrm>
          <a:prstGeom prst="rect">
            <a:avLst/>
          </a:prstGeom>
          <a:noFill/>
        </p:spPr>
        <p:txBody>
          <a:bodyPr wrap="square" rtlCol="0">
            <a:spAutoFit/>
          </a:bodyPr>
          <a:lstStyle/>
          <a:p>
            <a:r>
              <a:rPr lang="fr-FR" dirty="0"/>
              <a:t>3,5 </a:t>
            </a:r>
            <a:r>
              <a:rPr lang="fr-FR" dirty="0" err="1"/>
              <a:t>laboratory</a:t>
            </a:r>
            <a:r>
              <a:rPr lang="fr-FR" dirty="0"/>
              <a:t> assistants</a:t>
            </a:r>
          </a:p>
        </p:txBody>
      </p:sp>
      <p:sp>
        <p:nvSpPr>
          <p:cNvPr id="10" name="ZoneTexte 9">
            <a:extLst>
              <a:ext uri="{FF2B5EF4-FFF2-40B4-BE49-F238E27FC236}">
                <a16:creationId xmlns:a16="http://schemas.microsoft.com/office/drawing/2014/main" id="{F85DF3C4-9A23-C209-F635-90BA534D8345}"/>
              </a:ext>
            </a:extLst>
          </p:cNvPr>
          <p:cNvSpPr txBox="1"/>
          <p:nvPr/>
        </p:nvSpPr>
        <p:spPr>
          <a:xfrm>
            <a:off x="1245323" y="3664911"/>
            <a:ext cx="3934097" cy="369332"/>
          </a:xfrm>
          <a:prstGeom prst="rect">
            <a:avLst/>
          </a:prstGeom>
          <a:noFill/>
        </p:spPr>
        <p:txBody>
          <a:bodyPr wrap="square" rtlCol="0">
            <a:spAutoFit/>
          </a:bodyPr>
          <a:lstStyle/>
          <a:p>
            <a:r>
              <a:rPr lang="fr-FR" dirty="0"/>
              <a:t>360 </a:t>
            </a:r>
            <a:r>
              <a:rPr lang="fr-FR" dirty="0" err="1"/>
              <a:t>samples</a:t>
            </a:r>
            <a:r>
              <a:rPr lang="fr-FR" dirty="0"/>
              <a:t> </a:t>
            </a:r>
            <a:r>
              <a:rPr lang="fr-FR" dirty="0" err="1"/>
              <a:t>sorted</a:t>
            </a:r>
            <a:r>
              <a:rPr lang="fr-FR" dirty="0"/>
              <a:t> out per </a:t>
            </a:r>
            <a:r>
              <a:rPr lang="fr-FR" dirty="0" err="1"/>
              <a:t>month</a:t>
            </a:r>
            <a:endParaRPr lang="fr-FR" dirty="0"/>
          </a:p>
        </p:txBody>
      </p:sp>
      <p:sp>
        <p:nvSpPr>
          <p:cNvPr id="11" name="ZoneTexte 10">
            <a:extLst>
              <a:ext uri="{FF2B5EF4-FFF2-40B4-BE49-F238E27FC236}">
                <a16:creationId xmlns:a16="http://schemas.microsoft.com/office/drawing/2014/main" id="{AA6005F5-A00C-0D8E-A64B-1B8DA3214DDF}"/>
              </a:ext>
            </a:extLst>
          </p:cNvPr>
          <p:cNvSpPr txBox="1"/>
          <p:nvPr/>
        </p:nvSpPr>
        <p:spPr>
          <a:xfrm>
            <a:off x="1245323" y="4071846"/>
            <a:ext cx="3762103" cy="369332"/>
          </a:xfrm>
          <a:prstGeom prst="rect">
            <a:avLst/>
          </a:prstGeom>
          <a:noFill/>
        </p:spPr>
        <p:txBody>
          <a:bodyPr wrap="square" rtlCol="0">
            <a:spAutoFit/>
          </a:bodyPr>
          <a:lstStyle/>
          <a:p>
            <a:r>
              <a:rPr lang="fr-FR" dirty="0"/>
              <a:t>320 </a:t>
            </a:r>
            <a:r>
              <a:rPr lang="fr-FR" dirty="0" err="1"/>
              <a:t>samples</a:t>
            </a:r>
            <a:r>
              <a:rPr lang="fr-FR" dirty="0"/>
              <a:t> </a:t>
            </a:r>
            <a:r>
              <a:rPr lang="fr-FR" dirty="0" err="1"/>
              <a:t>weighed</a:t>
            </a:r>
            <a:r>
              <a:rPr lang="fr-FR" dirty="0"/>
              <a:t> per </a:t>
            </a:r>
            <a:r>
              <a:rPr lang="fr-FR" dirty="0" err="1"/>
              <a:t>month</a:t>
            </a:r>
            <a:endParaRPr lang="fr-FR" sz="1600" dirty="0"/>
          </a:p>
        </p:txBody>
      </p:sp>
      <p:sp>
        <p:nvSpPr>
          <p:cNvPr id="12" name="ZoneTexte 11">
            <a:extLst>
              <a:ext uri="{FF2B5EF4-FFF2-40B4-BE49-F238E27FC236}">
                <a16:creationId xmlns:a16="http://schemas.microsoft.com/office/drawing/2014/main" id="{7EB850BD-81D3-EA87-CDFA-DB58C19CA5EB}"/>
              </a:ext>
            </a:extLst>
          </p:cNvPr>
          <p:cNvSpPr txBox="1"/>
          <p:nvPr/>
        </p:nvSpPr>
        <p:spPr>
          <a:xfrm>
            <a:off x="7336967" y="3767840"/>
            <a:ext cx="4423956" cy="523220"/>
          </a:xfrm>
          <a:prstGeom prst="rect">
            <a:avLst/>
          </a:prstGeom>
          <a:noFill/>
        </p:spPr>
        <p:txBody>
          <a:bodyPr wrap="square" rtlCol="0">
            <a:spAutoFit/>
          </a:bodyPr>
          <a:lstStyle/>
          <a:p>
            <a:r>
              <a:rPr lang="fr-FR" sz="1400" dirty="0"/>
              <a:t>In 2022: </a:t>
            </a:r>
            <a:r>
              <a:rPr lang="fr-FR" sz="1400" b="1" dirty="0"/>
              <a:t>379</a:t>
            </a:r>
            <a:r>
              <a:rPr lang="fr-FR" sz="1400" dirty="0"/>
              <a:t> </a:t>
            </a:r>
            <a:r>
              <a:rPr lang="fr-FR" sz="1400" dirty="0" err="1"/>
              <a:t>days-worker</a:t>
            </a:r>
            <a:r>
              <a:rPr lang="fr-FR" sz="1400" dirty="0"/>
              <a:t> to set and check </a:t>
            </a:r>
            <a:r>
              <a:rPr lang="fr-FR" sz="1400" dirty="0" err="1"/>
              <a:t>pitfall</a:t>
            </a:r>
            <a:r>
              <a:rPr lang="fr-FR" sz="1400" dirty="0"/>
              <a:t> traps</a:t>
            </a:r>
          </a:p>
          <a:p>
            <a:r>
              <a:rPr lang="fr-FR" sz="1400" dirty="0"/>
              <a:t>(33 </a:t>
            </a:r>
            <a:r>
              <a:rPr lang="fr-FR" sz="1400" dirty="0" err="1"/>
              <a:t>days-worker</a:t>
            </a:r>
            <a:r>
              <a:rPr lang="fr-FR" sz="1400" dirty="0"/>
              <a:t> more </a:t>
            </a:r>
            <a:r>
              <a:rPr lang="fr-FR" sz="1400" dirty="0" err="1"/>
              <a:t>than</a:t>
            </a:r>
            <a:r>
              <a:rPr lang="fr-FR" sz="1400" dirty="0"/>
              <a:t> the </a:t>
            </a:r>
            <a:r>
              <a:rPr lang="fr-FR" sz="1400" dirty="0" err="1"/>
              <a:t>theoretical</a:t>
            </a:r>
            <a:r>
              <a:rPr lang="fr-FR" sz="1400" dirty="0"/>
              <a:t> </a:t>
            </a:r>
            <a:r>
              <a:rPr lang="fr-FR" sz="1400" dirty="0" err="1"/>
              <a:t>number</a:t>
            </a:r>
            <a:r>
              <a:rPr lang="fr-FR" sz="1400" dirty="0"/>
              <a:t> - 346)</a:t>
            </a:r>
          </a:p>
        </p:txBody>
      </p:sp>
      <p:sp>
        <p:nvSpPr>
          <p:cNvPr id="14" name="ZoneTexte 13">
            <a:extLst>
              <a:ext uri="{FF2B5EF4-FFF2-40B4-BE49-F238E27FC236}">
                <a16:creationId xmlns:a16="http://schemas.microsoft.com/office/drawing/2014/main" id="{A9A72A58-6706-82DC-49A9-DCD74661D17B}"/>
              </a:ext>
            </a:extLst>
          </p:cNvPr>
          <p:cNvSpPr txBox="1"/>
          <p:nvPr/>
        </p:nvSpPr>
        <p:spPr>
          <a:xfrm>
            <a:off x="968835" y="4997075"/>
            <a:ext cx="3762103" cy="646331"/>
          </a:xfrm>
          <a:prstGeom prst="rect">
            <a:avLst/>
          </a:prstGeom>
          <a:noFill/>
        </p:spPr>
        <p:txBody>
          <a:bodyPr wrap="square" rtlCol="0">
            <a:spAutoFit/>
          </a:bodyPr>
          <a:lstStyle/>
          <a:p>
            <a:r>
              <a:rPr lang="fr-FR" dirty="0"/>
              <a:t>14 </a:t>
            </a:r>
            <a:r>
              <a:rPr lang="fr-FR" dirty="0" err="1"/>
              <a:t>months</a:t>
            </a:r>
            <a:r>
              <a:rPr lang="fr-FR" dirty="0"/>
              <a:t> to process all the </a:t>
            </a:r>
            <a:r>
              <a:rPr lang="fr-FR" dirty="0" err="1"/>
              <a:t>samples</a:t>
            </a:r>
            <a:r>
              <a:rPr lang="fr-FR" dirty="0"/>
              <a:t> of one </a:t>
            </a:r>
            <a:r>
              <a:rPr lang="fr-FR" dirty="0" err="1"/>
              <a:t>trapping</a:t>
            </a:r>
            <a:r>
              <a:rPr lang="fr-FR" dirty="0"/>
              <a:t> </a:t>
            </a:r>
            <a:r>
              <a:rPr lang="fr-FR" dirty="0" err="1"/>
              <a:t>year</a:t>
            </a:r>
            <a:r>
              <a:rPr lang="fr-FR" dirty="0"/>
              <a:t> </a:t>
            </a:r>
            <a:endParaRPr lang="fr-FR" sz="1600" dirty="0"/>
          </a:p>
        </p:txBody>
      </p:sp>
      <p:pic>
        <p:nvPicPr>
          <p:cNvPr id="17" name="Image 16">
            <a:extLst>
              <a:ext uri="{FF2B5EF4-FFF2-40B4-BE49-F238E27FC236}">
                <a16:creationId xmlns:a16="http://schemas.microsoft.com/office/drawing/2014/main" id="{F01669BA-2D3D-1564-440D-E48491EAD3F7}"/>
              </a:ext>
            </a:extLst>
          </p:cNvPr>
          <p:cNvPicPr>
            <a:picLocks noChangeAspect="1"/>
          </p:cNvPicPr>
          <p:nvPr/>
        </p:nvPicPr>
        <p:blipFill rotWithShape="1">
          <a:blip r:embed="rId3"/>
          <a:srcRect l="28571" t="27683" r="64929" b="62475"/>
          <a:stretch/>
        </p:blipFill>
        <p:spPr>
          <a:xfrm>
            <a:off x="2271847" y="2570252"/>
            <a:ext cx="627018" cy="534035"/>
          </a:xfrm>
          <a:prstGeom prst="rect">
            <a:avLst/>
          </a:prstGeom>
        </p:spPr>
      </p:pic>
      <p:pic>
        <p:nvPicPr>
          <p:cNvPr id="18" name="Image 17">
            <a:extLst>
              <a:ext uri="{FF2B5EF4-FFF2-40B4-BE49-F238E27FC236}">
                <a16:creationId xmlns:a16="http://schemas.microsoft.com/office/drawing/2014/main" id="{B594404F-40E3-9856-1213-FA00C2907AFE}"/>
              </a:ext>
            </a:extLst>
          </p:cNvPr>
          <p:cNvPicPr>
            <a:picLocks noChangeAspect="1"/>
          </p:cNvPicPr>
          <p:nvPr/>
        </p:nvPicPr>
        <p:blipFill>
          <a:blip r:embed="rId4">
            <a:clrChange>
              <a:clrFrom>
                <a:srgbClr val="DDDC46"/>
              </a:clrFrom>
              <a:clrTo>
                <a:srgbClr val="DDDC46">
                  <a:alpha val="0"/>
                </a:srgbClr>
              </a:clrTo>
            </a:clrChange>
            <a:biLevel thresh="50000"/>
          </a:blip>
          <a:stretch>
            <a:fillRect/>
          </a:stretch>
        </p:blipFill>
        <p:spPr>
          <a:xfrm>
            <a:off x="3105558" y="2988663"/>
            <a:ext cx="469717" cy="414456"/>
          </a:xfrm>
          <a:prstGeom prst="rect">
            <a:avLst/>
          </a:prstGeom>
        </p:spPr>
      </p:pic>
      <p:pic>
        <p:nvPicPr>
          <p:cNvPr id="23" name="Image 22" descr="Une image contenant intérieur, affichage, étagère, vaisselle&#10;&#10;Description générée automatiquement">
            <a:extLst>
              <a:ext uri="{FF2B5EF4-FFF2-40B4-BE49-F238E27FC236}">
                <a16:creationId xmlns:a16="http://schemas.microsoft.com/office/drawing/2014/main" id="{1F760877-6A56-D05F-47CB-91EB90B3F502}"/>
              </a:ext>
            </a:extLst>
          </p:cNvPr>
          <p:cNvPicPr>
            <a:picLocks noChangeAspect="1"/>
          </p:cNvPicPr>
          <p:nvPr/>
        </p:nvPicPr>
        <p:blipFill>
          <a:blip r:embed="rId5" cstate="screen">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a:ext>
            </a:extLst>
          </a:blip>
          <a:stretch>
            <a:fillRect/>
          </a:stretch>
        </p:blipFill>
        <p:spPr>
          <a:xfrm>
            <a:off x="4604315" y="5120753"/>
            <a:ext cx="2007402" cy="1505552"/>
          </a:xfrm>
          <a:prstGeom prst="rect">
            <a:avLst/>
          </a:prstGeom>
        </p:spPr>
      </p:pic>
      <p:graphicFrame>
        <p:nvGraphicFramePr>
          <p:cNvPr id="7" name="Graphique 6">
            <a:extLst>
              <a:ext uri="{FF2B5EF4-FFF2-40B4-BE49-F238E27FC236}">
                <a16:creationId xmlns:a16="http://schemas.microsoft.com/office/drawing/2014/main" id="{6A19B8CE-72E3-DEA4-EAD8-3E241EBCB4DC}"/>
              </a:ext>
            </a:extLst>
          </p:cNvPr>
          <p:cNvGraphicFramePr>
            <a:graphicFrameLocks/>
          </p:cNvGraphicFramePr>
          <p:nvPr>
            <p:extLst>
              <p:ext uri="{D42A27DB-BD31-4B8C-83A1-F6EECF244321}">
                <p14:modId xmlns:p14="http://schemas.microsoft.com/office/powerpoint/2010/main" val="453544454"/>
              </p:ext>
            </p:extLst>
          </p:nvPr>
        </p:nvGraphicFramePr>
        <p:xfrm>
          <a:off x="6684264" y="1295202"/>
          <a:ext cx="4423956" cy="2484311"/>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557892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63D17B-38AE-125A-3C21-D0FA429812BE}"/>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4CC45AEE-6AA2-4079-C2C7-2B2D5F861BC7}"/>
              </a:ext>
            </a:extLst>
          </p:cNvPr>
          <p:cNvSpPr txBox="1">
            <a:spLocks/>
          </p:cNvSpPr>
          <p:nvPr/>
        </p:nvSpPr>
        <p:spPr>
          <a:xfrm>
            <a:off x="915666" y="1027906"/>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Data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Summary</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a:t>
            </a:r>
            <a:r>
              <a:rPr lang="fr-FR" sz="2000" dirty="0" err="1">
                <a:solidFill>
                  <a:srgbClr val="120E0C"/>
                </a:solidFill>
                <a:latin typeface="Tahoma" panose="020B0604030504040204" pitchFamily="34" charset="0"/>
                <a:ea typeface="Tahoma" panose="020B0604030504040204" pitchFamily="34" charset="0"/>
                <a:cs typeface="Tahoma" panose="020B0604030504040204" pitchFamily="34" charset="0"/>
              </a:rPr>
              <a:t>Eastern</a:t>
            </a: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 Morocco)</a:t>
            </a:r>
          </a:p>
        </p:txBody>
      </p:sp>
      <p:graphicFrame>
        <p:nvGraphicFramePr>
          <p:cNvPr id="5" name="Tableau 6">
            <a:extLst>
              <a:ext uri="{FF2B5EF4-FFF2-40B4-BE49-F238E27FC236}">
                <a16:creationId xmlns:a16="http://schemas.microsoft.com/office/drawing/2014/main" id="{3ACDE1F2-1DF2-3D11-9784-865FD3259CDB}"/>
              </a:ext>
            </a:extLst>
          </p:cNvPr>
          <p:cNvGraphicFramePr>
            <a:graphicFrameLocks noGrp="1"/>
          </p:cNvGraphicFramePr>
          <p:nvPr>
            <p:extLst>
              <p:ext uri="{D42A27DB-BD31-4B8C-83A1-F6EECF244321}">
                <p14:modId xmlns:p14="http://schemas.microsoft.com/office/powerpoint/2010/main" val="4249009452"/>
              </p:ext>
            </p:extLst>
          </p:nvPr>
        </p:nvGraphicFramePr>
        <p:xfrm>
          <a:off x="1125366" y="1478756"/>
          <a:ext cx="9762198" cy="4817959"/>
        </p:xfrm>
        <a:graphic>
          <a:graphicData uri="http://schemas.openxmlformats.org/drawingml/2006/table">
            <a:tbl>
              <a:tblPr firstRow="1" bandRow="1">
                <a:tableStyleId>{21E4AEA4-8DFA-4A89-87EB-49C32662AFE0}</a:tableStyleId>
              </a:tblPr>
              <a:tblGrid>
                <a:gridCol w="845129">
                  <a:extLst>
                    <a:ext uri="{9D8B030D-6E8A-4147-A177-3AD203B41FA5}">
                      <a16:colId xmlns:a16="http://schemas.microsoft.com/office/drawing/2014/main" val="1487477742"/>
                    </a:ext>
                  </a:extLst>
                </a:gridCol>
                <a:gridCol w="772706">
                  <a:extLst>
                    <a:ext uri="{9D8B030D-6E8A-4147-A177-3AD203B41FA5}">
                      <a16:colId xmlns:a16="http://schemas.microsoft.com/office/drawing/2014/main" val="891602504"/>
                    </a:ext>
                  </a:extLst>
                </a:gridCol>
                <a:gridCol w="729574">
                  <a:extLst>
                    <a:ext uri="{9D8B030D-6E8A-4147-A177-3AD203B41FA5}">
                      <a16:colId xmlns:a16="http://schemas.microsoft.com/office/drawing/2014/main" val="3713099723"/>
                    </a:ext>
                  </a:extLst>
                </a:gridCol>
                <a:gridCol w="904672">
                  <a:extLst>
                    <a:ext uri="{9D8B030D-6E8A-4147-A177-3AD203B41FA5}">
                      <a16:colId xmlns:a16="http://schemas.microsoft.com/office/drawing/2014/main" val="511791046"/>
                    </a:ext>
                  </a:extLst>
                </a:gridCol>
                <a:gridCol w="1017784">
                  <a:extLst>
                    <a:ext uri="{9D8B030D-6E8A-4147-A177-3AD203B41FA5}">
                      <a16:colId xmlns:a16="http://schemas.microsoft.com/office/drawing/2014/main" val="633479015"/>
                    </a:ext>
                  </a:extLst>
                </a:gridCol>
                <a:gridCol w="1025025">
                  <a:extLst>
                    <a:ext uri="{9D8B030D-6E8A-4147-A177-3AD203B41FA5}">
                      <a16:colId xmlns:a16="http://schemas.microsoft.com/office/drawing/2014/main" val="2462471248"/>
                    </a:ext>
                  </a:extLst>
                </a:gridCol>
                <a:gridCol w="992221">
                  <a:extLst>
                    <a:ext uri="{9D8B030D-6E8A-4147-A177-3AD203B41FA5}">
                      <a16:colId xmlns:a16="http://schemas.microsoft.com/office/drawing/2014/main" val="763592697"/>
                    </a:ext>
                  </a:extLst>
                </a:gridCol>
                <a:gridCol w="1011676">
                  <a:extLst>
                    <a:ext uri="{9D8B030D-6E8A-4147-A177-3AD203B41FA5}">
                      <a16:colId xmlns:a16="http://schemas.microsoft.com/office/drawing/2014/main" val="2511877994"/>
                    </a:ext>
                  </a:extLst>
                </a:gridCol>
                <a:gridCol w="826852">
                  <a:extLst>
                    <a:ext uri="{9D8B030D-6E8A-4147-A177-3AD203B41FA5}">
                      <a16:colId xmlns:a16="http://schemas.microsoft.com/office/drawing/2014/main" val="3711241190"/>
                    </a:ext>
                  </a:extLst>
                </a:gridCol>
                <a:gridCol w="875489">
                  <a:extLst>
                    <a:ext uri="{9D8B030D-6E8A-4147-A177-3AD203B41FA5}">
                      <a16:colId xmlns:a16="http://schemas.microsoft.com/office/drawing/2014/main" val="2990711370"/>
                    </a:ext>
                  </a:extLst>
                </a:gridCol>
                <a:gridCol w="761070">
                  <a:extLst>
                    <a:ext uri="{9D8B030D-6E8A-4147-A177-3AD203B41FA5}">
                      <a16:colId xmlns:a16="http://schemas.microsoft.com/office/drawing/2014/main" val="2834404149"/>
                    </a:ext>
                  </a:extLst>
                </a:gridCol>
              </a:tblGrid>
              <a:tr h="857959">
                <a:tc>
                  <a:txBody>
                    <a:bodyPr/>
                    <a:lstStyle/>
                    <a:p>
                      <a:pPr algn="ctr"/>
                      <a:r>
                        <a:rPr lang="fr-FR" sz="1600" dirty="0" err="1"/>
                        <a:t>Year</a:t>
                      </a:r>
                      <a:endParaRPr lang="fr-FR" sz="1600" dirty="0"/>
                    </a:p>
                  </a:txBody>
                  <a:tcPr marL="82073" marR="82073" marT="41041" marB="41041" anchor="ctr"/>
                </a:tc>
                <a:tc>
                  <a:txBody>
                    <a:bodyPr/>
                    <a:lstStyle/>
                    <a:p>
                      <a:pPr algn="ctr"/>
                      <a:r>
                        <a:rPr lang="fr-FR" sz="1600" dirty="0" err="1"/>
                        <a:t>Study</a:t>
                      </a:r>
                      <a:r>
                        <a:rPr lang="fr-FR" sz="1600" dirty="0"/>
                        <a:t> sites</a:t>
                      </a:r>
                    </a:p>
                  </a:txBody>
                  <a:tcPr marL="82073" marR="82073" marT="41041" marB="41041" anchor="ctr"/>
                </a:tc>
                <a:tc>
                  <a:txBody>
                    <a:bodyPr/>
                    <a:lstStyle/>
                    <a:p>
                      <a:pPr algn="ctr"/>
                      <a:r>
                        <a:rPr lang="fr-FR" sz="1600" dirty="0"/>
                        <a:t>Traps</a:t>
                      </a:r>
                    </a:p>
                  </a:txBody>
                  <a:tcPr marL="82073" marR="82073" marT="41041" marB="41041" anchor="ctr"/>
                </a:tc>
                <a:tc>
                  <a:txBody>
                    <a:bodyPr/>
                    <a:lstStyle/>
                    <a:p>
                      <a:pPr algn="ctr"/>
                      <a:r>
                        <a:rPr lang="fr-FR" sz="1600" dirty="0"/>
                        <a:t>Habitats</a:t>
                      </a:r>
                    </a:p>
                  </a:txBody>
                  <a:tcPr marL="82073" marR="82073" marT="41041" marB="41041" anchor="ctr"/>
                </a:tc>
                <a:tc>
                  <a:txBody>
                    <a:bodyPr/>
                    <a:lstStyle/>
                    <a:p>
                      <a:pPr algn="ctr"/>
                      <a:r>
                        <a:rPr lang="fr-FR" sz="1600" dirty="0" err="1"/>
                        <a:t>Messor</a:t>
                      </a:r>
                      <a:r>
                        <a:rPr lang="fr-FR" sz="1600" dirty="0"/>
                        <a:t> </a:t>
                      </a:r>
                      <a:r>
                        <a:rPr lang="fr-FR" sz="1600" dirty="0" err="1"/>
                        <a:t>ants</a:t>
                      </a:r>
                      <a:endParaRPr lang="fr-FR" sz="1600" dirty="0"/>
                    </a:p>
                  </a:txBody>
                  <a:tcPr marL="82073" marR="82073" marT="41041" marB="41041" anchor="ctr"/>
                </a:tc>
                <a:tc>
                  <a:txBody>
                    <a:bodyPr/>
                    <a:lstStyle/>
                    <a:p>
                      <a:pPr algn="ctr"/>
                      <a:r>
                        <a:rPr lang="fr-FR" sz="1600" dirty="0" err="1"/>
                        <a:t>Teneb</a:t>
                      </a:r>
                      <a:r>
                        <a:rPr lang="fr-FR" sz="1600" dirty="0"/>
                        <a:t>.</a:t>
                      </a:r>
                    </a:p>
                    <a:p>
                      <a:pPr algn="ctr"/>
                      <a:r>
                        <a:rPr lang="fr-FR" sz="1600" dirty="0" err="1"/>
                        <a:t>Houbara</a:t>
                      </a:r>
                      <a:r>
                        <a:rPr lang="fr-FR" sz="1600" dirty="0"/>
                        <a:t> </a:t>
                      </a:r>
                      <a:r>
                        <a:rPr lang="fr-FR" sz="1600" dirty="0" err="1"/>
                        <a:t>diet</a:t>
                      </a:r>
                      <a:endParaRPr lang="fr-FR" sz="1600" dirty="0"/>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dirty="0" err="1"/>
                        <a:t>Teneb</a:t>
                      </a:r>
                      <a:r>
                        <a:rPr lang="fr-FR" sz="1600" dirty="0"/>
                        <a:t>. </a:t>
                      </a:r>
                      <a:r>
                        <a:rPr lang="fr-FR" sz="1600" dirty="0" err="1"/>
                        <a:t>Other</a:t>
                      </a:r>
                      <a:endParaRPr lang="fr-FR" sz="1600" dirty="0"/>
                    </a:p>
                    <a:p>
                      <a:pPr algn="ctr"/>
                      <a:endParaRPr lang="fr-FR" sz="1600" dirty="0"/>
                    </a:p>
                  </a:txBody>
                  <a:tcPr marL="82073" marR="82073" marT="41041" marB="41041" anchor="ctr"/>
                </a:tc>
                <a:tc>
                  <a:txBody>
                    <a:bodyPr/>
                    <a:lstStyle/>
                    <a:p>
                      <a:pPr algn="ctr"/>
                      <a:r>
                        <a:rPr lang="fr-FR" sz="1600" dirty="0" err="1"/>
                        <a:t>Teneb</a:t>
                      </a:r>
                      <a:r>
                        <a:rPr lang="fr-FR" sz="1600" dirty="0"/>
                        <a:t>. </a:t>
                      </a:r>
                      <a:r>
                        <a:rPr lang="fr-FR" sz="1600" dirty="0" err="1"/>
                        <a:t>Whole</a:t>
                      </a:r>
                      <a:r>
                        <a:rPr lang="fr-FR" sz="1600" dirty="0"/>
                        <a:t> </a:t>
                      </a:r>
                      <a:r>
                        <a:rPr lang="fr-FR" sz="1600" dirty="0" err="1"/>
                        <a:t>family</a:t>
                      </a:r>
                      <a:endParaRPr lang="fr-FR" sz="1600" dirty="0"/>
                    </a:p>
                  </a:txBody>
                  <a:tcPr marL="82073" marR="82073" marT="41041" marB="41041" anchor="ctr"/>
                </a:tc>
                <a:tc>
                  <a:txBody>
                    <a:bodyPr/>
                    <a:lstStyle/>
                    <a:p>
                      <a:pPr algn="ctr"/>
                      <a:r>
                        <a:rPr lang="fr-FR" sz="1600" dirty="0" err="1"/>
                        <a:t>Other</a:t>
                      </a:r>
                      <a:endParaRPr lang="fr-FR" sz="1600" dirty="0"/>
                    </a:p>
                  </a:txBody>
                  <a:tcPr marL="82073" marR="82073" marT="41041" marB="41041" anchor="ctr"/>
                </a:tc>
                <a:tc>
                  <a:txBody>
                    <a:bodyPr/>
                    <a:lstStyle/>
                    <a:p>
                      <a:pPr algn="ctr"/>
                      <a:r>
                        <a:rPr lang="fr-FR" sz="1600" dirty="0" err="1"/>
                        <a:t>Samples</a:t>
                      </a:r>
                      <a:r>
                        <a:rPr lang="fr-FR" sz="1600" dirty="0"/>
                        <a:t> / </a:t>
                      </a:r>
                      <a:r>
                        <a:rPr lang="fr-FR" sz="1600" dirty="0" err="1"/>
                        <a:t>year</a:t>
                      </a:r>
                      <a:r>
                        <a:rPr lang="fr-FR" sz="1600" dirty="0"/>
                        <a:t> </a:t>
                      </a:r>
                    </a:p>
                  </a:txBody>
                  <a:tcPr marL="82073" marR="82073" marT="41041" marB="41041" anchor="ctr"/>
                </a:tc>
                <a:tc>
                  <a:txBody>
                    <a:bodyPr/>
                    <a:lstStyle/>
                    <a:p>
                      <a:pPr marL="0" algn="ctr" defTabSz="914400" rtl="0" eaLnBrk="1" latinLnBrk="0" hangingPunct="1"/>
                      <a:r>
                        <a:rPr lang="fr-FR" sz="1600" b="1" kern="1200" dirty="0">
                          <a:solidFill>
                            <a:schemeClr val="lt1"/>
                          </a:solidFill>
                          <a:latin typeface="+mn-lt"/>
                          <a:ea typeface="+mn-ea"/>
                          <a:cs typeface="+mn-cs"/>
                        </a:rPr>
                        <a:t>Data / </a:t>
                      </a:r>
                      <a:r>
                        <a:rPr lang="fr-FR" sz="1600" b="1" kern="1200" dirty="0" err="1">
                          <a:solidFill>
                            <a:schemeClr val="lt1"/>
                          </a:solidFill>
                          <a:latin typeface="+mn-lt"/>
                          <a:ea typeface="+mn-ea"/>
                          <a:cs typeface="+mn-cs"/>
                        </a:rPr>
                        <a:t>year</a:t>
                      </a:r>
                      <a:endParaRPr lang="fr-FR" sz="1600" b="1" kern="1200" dirty="0">
                        <a:solidFill>
                          <a:schemeClr val="lt1"/>
                        </a:solidFill>
                        <a:latin typeface="+mn-lt"/>
                        <a:ea typeface="+mn-ea"/>
                        <a:cs typeface="+mn-cs"/>
                      </a:endParaRPr>
                    </a:p>
                  </a:txBody>
                  <a:tcPr marL="82073" marR="82073" marT="41041" marB="41041" anchor="ctr"/>
                </a:tc>
                <a:extLst>
                  <a:ext uri="{0D108BD9-81ED-4DB2-BD59-A6C34878D82A}">
                    <a16:rowId xmlns:a16="http://schemas.microsoft.com/office/drawing/2014/main" val="2645500807"/>
                  </a:ext>
                </a:extLst>
              </a:tr>
              <a:tr h="360000">
                <a:tc>
                  <a:txBody>
                    <a:bodyPr/>
                    <a:lstStyle/>
                    <a:p>
                      <a:pPr algn="ctr"/>
                      <a:r>
                        <a:rPr lang="fr-FR" sz="1400" b="1" dirty="0">
                          <a:latin typeface="+mn-lt"/>
                        </a:rPr>
                        <a:t>2015</a:t>
                      </a:r>
                    </a:p>
                  </a:txBody>
                  <a:tcPr marL="82073" marR="82073" marT="41041" marB="41041">
                    <a:solidFill>
                      <a:schemeClr val="accent2">
                        <a:lumMod val="20000"/>
                        <a:lumOff val="80000"/>
                      </a:schemeClr>
                    </a:solidFill>
                  </a:tcPr>
                </a:tc>
                <a:tc>
                  <a:txBody>
                    <a:bodyPr/>
                    <a:lstStyle/>
                    <a:p>
                      <a:pPr algn="ctr"/>
                      <a:r>
                        <a:rPr lang="fr-FR" sz="1400" dirty="0">
                          <a:latin typeface="+mn-lt"/>
                        </a:rPr>
                        <a:t>50</a:t>
                      </a:r>
                    </a:p>
                  </a:txBody>
                  <a:tcPr marL="82073" marR="82073" marT="41041" marB="41041" anchor="ctr">
                    <a:solidFill>
                      <a:schemeClr val="accent2">
                        <a:lumMod val="20000"/>
                        <a:lumOff val="80000"/>
                      </a:schemeClr>
                    </a:solidFill>
                  </a:tcPr>
                </a:tc>
                <a:tc>
                  <a:txBody>
                    <a:bodyPr/>
                    <a:lstStyle/>
                    <a:p>
                      <a:pPr algn="ctr"/>
                      <a:r>
                        <a:rPr lang="fr-FR" sz="1400" dirty="0">
                          <a:latin typeface="+mn-lt"/>
                        </a:rPr>
                        <a:t>200</a:t>
                      </a:r>
                    </a:p>
                  </a:txBody>
                  <a:tcPr marL="82073" marR="82073" marT="41041" marB="41041" anchor="ctr">
                    <a:solidFill>
                      <a:schemeClr val="accent2">
                        <a:lumMod val="20000"/>
                        <a:lumOff val="80000"/>
                      </a:schemeClr>
                    </a:solidFill>
                  </a:tcPr>
                </a:tc>
                <a:tc>
                  <a:txBody>
                    <a:bodyPr/>
                    <a:lstStyle/>
                    <a:p>
                      <a:pPr algn="ctr"/>
                      <a:r>
                        <a:rPr lang="fr-FR" sz="1400" dirty="0">
                          <a:latin typeface="+mn-lt"/>
                        </a:rPr>
                        <a:t>4</a:t>
                      </a:r>
                    </a:p>
                  </a:txBody>
                  <a:tcPr marL="82073" marR="82073" marT="41041" marB="41041" anchor="ctr">
                    <a:solidFill>
                      <a:schemeClr val="accent2">
                        <a:lumMod val="20000"/>
                        <a:lumOff val="80000"/>
                      </a:schemeClr>
                    </a:solidFill>
                  </a:tcPr>
                </a:tc>
                <a:tc>
                  <a:txBody>
                    <a:bodyPr/>
                    <a:lstStyle/>
                    <a:p>
                      <a:pPr algn="ctr"/>
                      <a:r>
                        <a:rPr lang="fr-FR" sz="1400" dirty="0" err="1">
                          <a:latin typeface="+mn-lt"/>
                        </a:rPr>
                        <a:t>Nber</a:t>
                      </a:r>
                      <a:r>
                        <a:rPr lang="fr-FR" sz="1400" dirty="0">
                          <a:latin typeface="+mn-lt"/>
                        </a:rPr>
                        <a:t>/</a:t>
                      </a:r>
                      <a:r>
                        <a:rPr lang="fr-FR" sz="1400" dirty="0" err="1">
                          <a:latin typeface="+mn-lt"/>
                        </a:rPr>
                        <a:t>Wght</a:t>
                      </a:r>
                      <a:endParaRPr lang="fr-FR" sz="1400" dirty="0">
                        <a:latin typeface="+mn-lt"/>
                      </a:endParaRPr>
                    </a:p>
                  </a:txBody>
                  <a:tcPr marL="82073" marR="82073" marT="41041" marB="41041" anchor="ctr">
                    <a:solidFill>
                      <a:schemeClr val="accent2">
                        <a:lumMod val="20000"/>
                        <a:lumOff val="80000"/>
                      </a:schemeClr>
                    </a:solidFill>
                  </a:tcPr>
                </a:tc>
                <a:tc>
                  <a:txBody>
                    <a:bodyPr/>
                    <a:lstStyle/>
                    <a:p>
                      <a:pPr algn="ctr"/>
                      <a:r>
                        <a:rPr lang="fr-FR" sz="1400" dirty="0" err="1">
                          <a:latin typeface="+mn-lt"/>
                        </a:rPr>
                        <a:t>Nber</a:t>
                      </a:r>
                      <a:r>
                        <a:rPr lang="fr-FR" sz="1400" dirty="0">
                          <a:latin typeface="+mn-lt"/>
                        </a:rPr>
                        <a:t>/</a:t>
                      </a:r>
                      <a:r>
                        <a:rPr lang="fr-FR" sz="1400" dirty="0" err="1">
                          <a:latin typeface="+mn-lt"/>
                        </a:rPr>
                        <a:t>Wght</a:t>
                      </a:r>
                      <a:endParaRPr lang="fr-FR" sz="1400" dirty="0">
                        <a:latin typeface="+mn-lt"/>
                      </a:endParaRP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solidFill>
                      <a:schemeClr val="accent2">
                        <a:lumMod val="20000"/>
                        <a:lumOff val="80000"/>
                      </a:schemeClr>
                    </a:solidFill>
                  </a:tcPr>
                </a:tc>
                <a:tc>
                  <a:txBody>
                    <a:bodyPr/>
                    <a:lstStyle/>
                    <a:p>
                      <a:pPr algn="ctr"/>
                      <a:r>
                        <a:rPr lang="fr-FR" sz="1400" dirty="0">
                          <a:latin typeface="+mn-lt"/>
                        </a:rPr>
                        <a:t>/</a:t>
                      </a:r>
                    </a:p>
                  </a:txBody>
                  <a:tcPr marL="82073" marR="82073" marT="41041" marB="41041" anchor="ctr">
                    <a:solidFill>
                      <a:schemeClr val="accent2">
                        <a:lumMod val="20000"/>
                        <a:lumOff val="80000"/>
                      </a:schemeClr>
                    </a:solidFill>
                  </a:tcPr>
                </a:tc>
                <a:tc>
                  <a:txBody>
                    <a:bodyPr/>
                    <a:lstStyle/>
                    <a:p>
                      <a:pPr algn="ctr"/>
                      <a:r>
                        <a:rPr lang="fr-FR" sz="1400" dirty="0" err="1">
                          <a:latin typeface="+mn-lt"/>
                        </a:rPr>
                        <a:t>Wght</a:t>
                      </a:r>
                      <a:endParaRPr lang="fr-FR" sz="1400" dirty="0">
                        <a:latin typeface="+mn-lt"/>
                      </a:endParaRPr>
                    </a:p>
                  </a:txBody>
                  <a:tcPr marL="82073" marR="82073" marT="41041" marB="41041" anchor="ctr">
                    <a:solidFill>
                      <a:schemeClr val="accent2">
                        <a:lumMod val="20000"/>
                        <a:lumOff val="80000"/>
                      </a:schemeClr>
                    </a:solidFill>
                  </a:tcPr>
                </a:tc>
                <a:tc>
                  <a:txBody>
                    <a:bodyPr/>
                    <a:lstStyle/>
                    <a:p>
                      <a:pPr algn="ctr"/>
                      <a:r>
                        <a:rPr lang="fr-FR" sz="1400" dirty="0">
                          <a:latin typeface="+mn-lt"/>
                        </a:rPr>
                        <a:t>1600</a:t>
                      </a:r>
                    </a:p>
                  </a:txBody>
                  <a:tcPr marL="82073" marR="82073" marT="41041" marB="41041" anchor="ctr">
                    <a:solidFill>
                      <a:schemeClr val="accent2">
                        <a:lumMod val="20000"/>
                        <a:lumOff val="80000"/>
                      </a:schemeClr>
                    </a:solidFill>
                  </a:tcPr>
                </a:tc>
                <a:tc>
                  <a:txBody>
                    <a:bodyPr/>
                    <a:lstStyle/>
                    <a:p>
                      <a:pPr algn="ctr"/>
                      <a:r>
                        <a:rPr lang="fr-FR" sz="1400" dirty="0">
                          <a:latin typeface="+mn-lt"/>
                        </a:rPr>
                        <a:t>6400</a:t>
                      </a:r>
                    </a:p>
                  </a:txBody>
                  <a:tcPr marL="82073" marR="82073" marT="41041" marB="41041" anchor="ctr">
                    <a:solidFill>
                      <a:schemeClr val="accent2">
                        <a:lumMod val="20000"/>
                        <a:lumOff val="80000"/>
                      </a:schemeClr>
                    </a:solidFill>
                  </a:tcPr>
                </a:tc>
                <a:extLst>
                  <a:ext uri="{0D108BD9-81ED-4DB2-BD59-A6C34878D82A}">
                    <a16:rowId xmlns:a16="http://schemas.microsoft.com/office/drawing/2014/main" val="2951805480"/>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dirty="0">
                          <a:latin typeface="+mn-lt"/>
                        </a:rPr>
                        <a:t>2016</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86</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344</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2752</a:t>
                      </a:r>
                    </a:p>
                  </a:txBody>
                  <a:tcPr marL="82073" marR="82073" marT="41041" marB="41041"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11008</a:t>
                      </a:r>
                    </a:p>
                  </a:txBody>
                  <a:tcPr marL="82073" marR="82073" marT="41041" marB="41041" anchor="ctr">
                    <a:solidFill>
                      <a:schemeClr val="accent2">
                        <a:lumMod val="20000"/>
                        <a:lumOff val="80000"/>
                      </a:schemeClr>
                    </a:solidFill>
                  </a:tcPr>
                </a:tc>
                <a:extLst>
                  <a:ext uri="{0D108BD9-81ED-4DB2-BD59-A6C34878D82A}">
                    <a16:rowId xmlns:a16="http://schemas.microsoft.com/office/drawing/2014/main" val="3041614871"/>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2017</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3232</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869857508"/>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2018</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2377657844"/>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2019</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1401844096"/>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2020</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dirty="0" err="1">
                          <a:latin typeface="+mn-lt"/>
                        </a:rPr>
                        <a:t>Nber</a:t>
                      </a:r>
                      <a:r>
                        <a:rPr lang="fr-FR" sz="1400" dirty="0">
                          <a:latin typeface="+mn-lt"/>
                        </a:rPr>
                        <a:t>/</a:t>
                      </a:r>
                      <a:r>
                        <a:rPr lang="fr-FR" sz="1400" dirty="0" err="1">
                          <a:latin typeface="+mn-lt"/>
                        </a:rPr>
                        <a:t>Wght</a:t>
                      </a:r>
                      <a:endParaRPr lang="fr-FR" sz="1400" dirty="0">
                        <a:latin typeface="+mn-lt"/>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2522828894"/>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dirty="0" err="1">
                          <a:latin typeface="+mn-lt"/>
                        </a:rPr>
                        <a:t>Nber</a:t>
                      </a:r>
                      <a:r>
                        <a:rPr lang="fr-FR" sz="1400" dirty="0">
                          <a:latin typeface="+mn-lt"/>
                        </a:rPr>
                        <a:t>/</a:t>
                      </a:r>
                      <a:r>
                        <a:rPr lang="fr-FR" sz="1400" dirty="0" err="1">
                          <a:latin typeface="+mn-lt"/>
                        </a:rPr>
                        <a:t>Wght</a:t>
                      </a:r>
                      <a:endParaRPr lang="fr-FR" sz="1400" dirty="0">
                        <a:latin typeface="+mn-lt"/>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710101259"/>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2022</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12928</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extLst>
                  <a:ext uri="{0D108BD9-81ED-4DB2-BD59-A6C34878D82A}">
                    <a16:rowId xmlns:a16="http://schemas.microsoft.com/office/drawing/2014/main" val="3105907622"/>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2023</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Nber/Wght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12928</a:t>
                      </a:r>
                    </a:p>
                  </a:txBody>
                  <a:tcPr marL="82073" marR="82073" marT="41041" marB="41041" anchor="ctr"/>
                </a:tc>
                <a:extLst>
                  <a:ext uri="{0D108BD9-81ED-4DB2-BD59-A6C34878D82A}">
                    <a16:rowId xmlns:a16="http://schemas.microsoft.com/office/drawing/2014/main" val="1186933978"/>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mn-lt"/>
                          <a:ea typeface="+mn-ea"/>
                          <a:cs typeface="+mn-cs"/>
                        </a:rPr>
                        <a:t>Nber</a:t>
                      </a:r>
                      <a:r>
                        <a:rPr kumimoji="0" lang="fr-FR" sz="1400" b="0" i="0" u="none" strike="noStrike" kern="1200" cap="none" spc="0" normalizeH="0" baseline="0" noProof="0" dirty="0">
                          <a:ln>
                            <a:noFill/>
                          </a:ln>
                          <a:solidFill>
                            <a:prstClr val="black"/>
                          </a:solidFill>
                          <a:effectLst/>
                          <a:uLnTx/>
                          <a:uFillTx/>
                          <a:latin typeface="+mn-lt"/>
                          <a:ea typeface="+mn-ea"/>
                          <a:cs typeface="+mn-cs"/>
                        </a:rPr>
                        <a:t>/</a:t>
                      </a:r>
                      <a:r>
                        <a:rPr kumimoji="0" lang="fr-FR" sz="1400" b="0" i="0" u="none" strike="noStrike" kern="1200" cap="none" spc="0" normalizeH="0" baseline="0" noProof="0" dirty="0" err="1">
                          <a:ln>
                            <a:noFill/>
                          </a:ln>
                          <a:solidFill>
                            <a:srgbClr val="FF0000"/>
                          </a:solidFill>
                          <a:effectLst/>
                          <a:uLnTx/>
                          <a:uFillTx/>
                          <a:latin typeface="+mn-lt"/>
                          <a:ea typeface="+mn-ea"/>
                          <a:cs typeface="+mn-cs"/>
                        </a:rPr>
                        <a:t>Wght</a:t>
                      </a:r>
                      <a:endParaRPr kumimoji="0" lang="fr-FR" sz="1400" b="0" i="0" u="none" strike="noStrike" kern="1200" cap="none" spc="0" normalizeH="0" baseline="0" noProof="0" dirty="0">
                        <a:ln>
                          <a:noFill/>
                        </a:ln>
                        <a:solidFill>
                          <a:srgbClr val="FF0000"/>
                        </a:solidFill>
                        <a:effectLst/>
                        <a:uLnTx/>
                        <a:uFillTx/>
                        <a:latin typeface="+mn-lt"/>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prstClr val="black"/>
                          </a:solidFill>
                          <a:effectLst/>
                          <a:uLnTx/>
                          <a:uFillTx/>
                          <a:latin typeface="+mn-lt"/>
                          <a:ea typeface="+mn-ea"/>
                          <a:cs typeface="+mn-cs"/>
                        </a:rPr>
                        <a:t>Nber</a:t>
                      </a:r>
                      <a:r>
                        <a:rPr kumimoji="0" lang="fr-FR" sz="1400" b="0" i="0" u="none" strike="noStrike" kern="1200" cap="none" spc="0" normalizeH="0" baseline="0" noProof="0" dirty="0">
                          <a:ln>
                            <a:noFill/>
                          </a:ln>
                          <a:solidFill>
                            <a:prstClr val="black"/>
                          </a:solidFill>
                          <a:effectLst/>
                          <a:uLnTx/>
                          <a:uFillTx/>
                          <a:latin typeface="+mn-lt"/>
                          <a:ea typeface="+mn-ea"/>
                          <a:cs typeface="+mn-cs"/>
                        </a:rPr>
                        <a:t>/</a:t>
                      </a:r>
                      <a:r>
                        <a:rPr kumimoji="0" lang="fr-FR" sz="1400" b="0" i="0" u="none" strike="noStrike" kern="1200" cap="none" spc="0" normalizeH="0" baseline="0" noProof="0" dirty="0" err="1">
                          <a:ln>
                            <a:noFill/>
                          </a:ln>
                          <a:solidFill>
                            <a:srgbClr val="FF0000"/>
                          </a:solidFill>
                          <a:effectLst/>
                          <a:uLnTx/>
                          <a:uFillTx/>
                          <a:latin typeface="+mn-lt"/>
                          <a:ea typeface="+mn-ea"/>
                          <a:cs typeface="+mn-cs"/>
                        </a:rPr>
                        <a:t>Wght</a:t>
                      </a:r>
                      <a:endParaRPr kumimoji="0" lang="fr-FR" sz="1400" b="0" i="0" u="none" strike="noStrike" kern="1200" cap="none" spc="0" normalizeH="0" baseline="0" noProof="0" dirty="0">
                        <a:ln>
                          <a:noFill/>
                        </a:ln>
                        <a:solidFill>
                          <a:srgbClr val="FF0000"/>
                        </a:solidFill>
                        <a:effectLst/>
                        <a:uLnTx/>
                        <a:uFillTx/>
                        <a:latin typeface="+mn-lt"/>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srgbClr val="FF0000"/>
                          </a:solidFill>
                          <a:effectLst/>
                          <a:uLnTx/>
                          <a:uFillTx/>
                          <a:latin typeface="+mn-lt"/>
                          <a:ea typeface="+mn-ea"/>
                          <a:cs typeface="+mn-cs"/>
                        </a:rPr>
                        <a:t>Wght</a:t>
                      </a:r>
                      <a:endParaRPr kumimoji="0" lang="fr-FR" sz="1400" b="0" i="0" u="none" strike="noStrike" kern="1200" cap="none" spc="0" normalizeH="0" baseline="0" noProof="0" dirty="0">
                        <a:ln>
                          <a:noFill/>
                        </a:ln>
                        <a:solidFill>
                          <a:srgbClr val="FF0000"/>
                        </a:solidFill>
                        <a:effectLst/>
                        <a:uLnTx/>
                        <a:uFillTx/>
                        <a:latin typeface="+mn-lt"/>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Calibri" panose="020F0502020204030204"/>
                          <a:ea typeface="+mn-ea"/>
                          <a:cs typeface="+mn-cs"/>
                        </a:rPr>
                        <a:t>3232</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12928</a:t>
                      </a:r>
                    </a:p>
                  </a:txBody>
                  <a:tcPr marL="82073" marR="82073" marT="41041" marB="41041" anchor="ctr"/>
                </a:tc>
                <a:extLst>
                  <a:ext uri="{0D108BD9-81ED-4DB2-BD59-A6C34878D82A}">
                    <a16:rowId xmlns:a16="http://schemas.microsoft.com/office/drawing/2014/main" val="3097657002"/>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dk1"/>
                          </a:solidFill>
                          <a:latin typeface="+mn-lt"/>
                          <a:ea typeface="+mn-ea"/>
                          <a:cs typeface="+mn-cs"/>
                        </a:rPr>
                        <a:t>2025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101</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404</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120E0C"/>
                          </a:solidFill>
                          <a:effectLst/>
                          <a:uLnTx/>
                          <a:uFillTx/>
                          <a:latin typeface="Calibri" panose="020F0502020204030204"/>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120E0C"/>
                          </a:solidFill>
                          <a:effectLst/>
                          <a:uLnTx/>
                          <a:uFillTx/>
                          <a:latin typeface="Calibri" panose="020F0502020204030204"/>
                          <a:ea typeface="+mn-ea"/>
                          <a:cs typeface="+mn-cs"/>
                        </a:rPr>
                        <a:t>/</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Nber</a:t>
                      </a:r>
                      <a:r>
                        <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rPr>
                        <a:t>/</a:t>
                      </a:r>
                      <a:r>
                        <a:rPr kumimoji="0" lang="fr-FR" sz="1400" b="0" i="0" u="none" strike="noStrike" kern="1200" cap="none" spc="0" normalizeH="0" baseline="0" noProof="0" dirty="0" err="1">
                          <a:ln>
                            <a:noFill/>
                          </a:ln>
                          <a:solidFill>
                            <a:srgbClr val="FF0000"/>
                          </a:solidFill>
                          <a:effectLst/>
                          <a:uLnTx/>
                          <a:uFillTx/>
                          <a:latin typeface="Calibri" panose="020F0502020204030204"/>
                          <a:ea typeface="+mn-ea"/>
                          <a:cs typeface="+mn-cs"/>
                        </a:rPr>
                        <a:t>Wght</a:t>
                      </a:r>
                      <a:endParaRPr kumimoji="0" lang="fr-FR" sz="14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srgbClr val="FF0000"/>
                          </a:solidFill>
                          <a:effectLst/>
                          <a:uLnTx/>
                          <a:uFillTx/>
                          <a:latin typeface="+mn-lt"/>
                          <a:ea typeface="+mn-ea"/>
                          <a:cs typeface="+mn-cs"/>
                        </a:rPr>
                        <a:t>Wght</a:t>
                      </a:r>
                      <a:endParaRPr kumimoji="0" lang="fr-FR" sz="1400" b="0" i="0" u="none" strike="noStrike" kern="1200" cap="none" spc="0" normalizeH="0" baseline="0" noProof="0" dirty="0">
                        <a:ln>
                          <a:noFill/>
                        </a:ln>
                        <a:solidFill>
                          <a:srgbClr val="FF0000"/>
                        </a:solidFill>
                        <a:effectLst/>
                        <a:uLnTx/>
                        <a:uFillTx/>
                        <a:latin typeface="+mn-lt"/>
                        <a:ea typeface="+mn-ea"/>
                        <a:cs typeface="+mn-cs"/>
                      </a:endParaRP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rPr>
                        <a:t>3232</a:t>
                      </a:r>
                    </a:p>
                  </a:txBody>
                  <a:tcPr marL="82073" marR="82073" marT="41041" marB="4104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mn-lt"/>
                          <a:ea typeface="+mn-ea"/>
                          <a:cs typeface="+mn-cs"/>
                        </a:rPr>
                        <a:t>9696</a:t>
                      </a:r>
                    </a:p>
                  </a:txBody>
                  <a:tcPr marL="82073" marR="82073" marT="41041" marB="41041" anchor="ctr"/>
                </a:tc>
                <a:extLst>
                  <a:ext uri="{0D108BD9-81ED-4DB2-BD59-A6C34878D82A}">
                    <a16:rowId xmlns:a16="http://schemas.microsoft.com/office/drawing/2014/main" val="4203151979"/>
                  </a:ext>
                </a:extLst>
              </a:tr>
            </a:tbl>
          </a:graphicData>
        </a:graphic>
      </p:graphicFrame>
      <p:sp>
        <p:nvSpPr>
          <p:cNvPr id="4" name="ZoneTexte 3">
            <a:extLst>
              <a:ext uri="{FF2B5EF4-FFF2-40B4-BE49-F238E27FC236}">
                <a16:creationId xmlns:a16="http://schemas.microsoft.com/office/drawing/2014/main" id="{479E9FA2-A3B8-63C3-4D96-4E2289FFBFA1}"/>
              </a:ext>
            </a:extLst>
          </p:cNvPr>
          <p:cNvSpPr txBox="1"/>
          <p:nvPr/>
        </p:nvSpPr>
        <p:spPr>
          <a:xfrm>
            <a:off x="1125366" y="6378233"/>
            <a:ext cx="3762103" cy="307777"/>
          </a:xfrm>
          <a:prstGeom prst="rect">
            <a:avLst/>
          </a:prstGeom>
          <a:noFill/>
        </p:spPr>
        <p:txBody>
          <a:bodyPr wrap="square" rtlCol="0">
            <a:spAutoFit/>
          </a:bodyPr>
          <a:lstStyle/>
          <a:p>
            <a:r>
              <a:rPr lang="fr-FR" sz="1400" dirty="0">
                <a:solidFill>
                  <a:srgbClr val="FF0000"/>
                </a:solidFill>
              </a:rPr>
              <a:t>In </a:t>
            </a:r>
            <a:r>
              <a:rPr lang="fr-FR" sz="1400" dirty="0" err="1">
                <a:solidFill>
                  <a:srgbClr val="FF0000"/>
                </a:solidFill>
              </a:rPr>
              <a:t>red</a:t>
            </a:r>
            <a:r>
              <a:rPr lang="fr-FR" sz="1400" dirty="0">
                <a:solidFill>
                  <a:srgbClr val="FF0000"/>
                </a:solidFill>
              </a:rPr>
              <a:t>: to </a:t>
            </a:r>
            <a:r>
              <a:rPr lang="fr-FR" sz="1400" dirty="0" err="1">
                <a:solidFill>
                  <a:srgbClr val="FF0000"/>
                </a:solidFill>
              </a:rPr>
              <a:t>be</a:t>
            </a:r>
            <a:r>
              <a:rPr lang="fr-FR" sz="1400" dirty="0">
                <a:solidFill>
                  <a:srgbClr val="FF0000"/>
                </a:solidFill>
              </a:rPr>
              <a:t> </a:t>
            </a:r>
            <a:r>
              <a:rPr lang="fr-FR" sz="1400" dirty="0" err="1">
                <a:solidFill>
                  <a:srgbClr val="FF0000"/>
                </a:solidFill>
              </a:rPr>
              <a:t>completed</a:t>
            </a:r>
            <a:endParaRPr lang="fr-FR" sz="1400" dirty="0">
              <a:solidFill>
                <a:srgbClr val="FF0000"/>
              </a:solidFill>
            </a:endParaRPr>
          </a:p>
        </p:txBody>
      </p:sp>
    </p:spTree>
    <p:extLst>
      <p:ext uri="{BB962C8B-B14F-4D97-AF65-F5344CB8AC3E}">
        <p14:creationId xmlns:p14="http://schemas.microsoft.com/office/powerpoint/2010/main" val="1761590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9E9727-70E8-8C65-123C-107C034283E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36D84303-FF0A-7E97-74DC-437169E463A9}"/>
              </a:ext>
            </a:extLst>
          </p:cNvPr>
          <p:cNvSpPr txBox="1">
            <a:spLocks/>
          </p:cNvSpPr>
          <p:nvPr/>
        </p:nvSpPr>
        <p:spPr>
          <a:xfrm>
            <a:off x="915666" y="1027906"/>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Data table</a:t>
            </a:r>
          </a:p>
        </p:txBody>
      </p:sp>
      <p:graphicFrame>
        <p:nvGraphicFramePr>
          <p:cNvPr id="6" name="Tableau 5">
            <a:extLst>
              <a:ext uri="{FF2B5EF4-FFF2-40B4-BE49-F238E27FC236}">
                <a16:creationId xmlns:a16="http://schemas.microsoft.com/office/drawing/2014/main" id="{9E09E7FD-60A3-AEB0-331C-AD6452960031}"/>
              </a:ext>
            </a:extLst>
          </p:cNvPr>
          <p:cNvGraphicFramePr>
            <a:graphicFrameLocks noGrp="1"/>
          </p:cNvGraphicFramePr>
          <p:nvPr>
            <p:extLst>
              <p:ext uri="{D42A27DB-BD31-4B8C-83A1-F6EECF244321}">
                <p14:modId xmlns:p14="http://schemas.microsoft.com/office/powerpoint/2010/main" val="2819869976"/>
              </p:ext>
            </p:extLst>
          </p:nvPr>
        </p:nvGraphicFramePr>
        <p:xfrm>
          <a:off x="9999222" y="5566070"/>
          <a:ext cx="1528054" cy="703146"/>
        </p:xfrm>
        <a:graphic>
          <a:graphicData uri="http://schemas.openxmlformats.org/drawingml/2006/table">
            <a:tbl>
              <a:tblPr/>
              <a:tblGrid>
                <a:gridCol w="1041672">
                  <a:extLst>
                    <a:ext uri="{9D8B030D-6E8A-4147-A177-3AD203B41FA5}">
                      <a16:colId xmlns:a16="http://schemas.microsoft.com/office/drawing/2014/main" val="1741931699"/>
                    </a:ext>
                  </a:extLst>
                </a:gridCol>
                <a:gridCol w="486382">
                  <a:extLst>
                    <a:ext uri="{9D8B030D-6E8A-4147-A177-3AD203B41FA5}">
                      <a16:colId xmlns:a16="http://schemas.microsoft.com/office/drawing/2014/main" val="4002364896"/>
                    </a:ext>
                  </a:extLst>
                </a:gridCol>
              </a:tblGrid>
              <a:tr h="234382">
                <a:tc>
                  <a:txBody>
                    <a:bodyPr/>
                    <a:lstStyle/>
                    <a:p>
                      <a:pPr algn="l" fontAlgn="b">
                        <a:buNone/>
                      </a:pPr>
                      <a:r>
                        <a:rPr lang="fr-FR" sz="1100" b="0" i="0" u="none" strike="noStrike">
                          <a:solidFill>
                            <a:srgbClr val="000000"/>
                          </a:solidFill>
                          <a:effectLst/>
                          <a:latin typeface="Calibri Light" panose="020F0302020204030204" pitchFamily="34" charset="0"/>
                        </a:rPr>
                        <a:t>Non working trap</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buNone/>
                      </a:pPr>
                      <a:r>
                        <a:rPr lang="fr-FR" sz="1100" b="0" i="0" u="none" strike="noStrike">
                          <a:solidFill>
                            <a:srgbClr val="000000"/>
                          </a:solidFill>
                          <a:effectLst/>
                          <a:latin typeface="Calibri Light" panose="020F0302020204030204" pitchFamily="34" charset="0"/>
                        </a:rPr>
                        <a:t>NWT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587801482"/>
                  </a:ext>
                </a:extLst>
              </a:tr>
              <a:tr h="234382">
                <a:tc>
                  <a:txBody>
                    <a:bodyPr/>
                    <a:lstStyle/>
                    <a:p>
                      <a:pPr algn="l" fontAlgn="b">
                        <a:buNone/>
                      </a:pPr>
                      <a:r>
                        <a:rPr lang="fr-FR" sz="1100" b="0" i="0" u="none" strike="noStrike">
                          <a:solidFill>
                            <a:srgbClr val="000000"/>
                          </a:solidFill>
                          <a:effectLst/>
                          <a:latin typeface="Calibri Light" panose="020F0302020204030204" pitchFamily="34" charset="0"/>
                        </a:rPr>
                        <a:t>Bias possible</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buNone/>
                      </a:pPr>
                      <a:r>
                        <a:rPr lang="fr-FR" sz="1100" b="0" i="0" u="none" strike="noStrike">
                          <a:solidFill>
                            <a:srgbClr val="000000"/>
                          </a:solidFill>
                          <a:effectLst/>
                          <a:latin typeface="Calibri Light" panose="020F0302020204030204" pitchFamily="34" charset="0"/>
                        </a:rPr>
                        <a:t>BP</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11734216"/>
                  </a:ext>
                </a:extLst>
              </a:tr>
              <a:tr h="234382">
                <a:tc>
                  <a:txBody>
                    <a:bodyPr/>
                    <a:lstStyle/>
                    <a:p>
                      <a:pPr algn="l" fontAlgn="b">
                        <a:buNone/>
                      </a:pPr>
                      <a:r>
                        <a:rPr lang="fr-FR" sz="1100" b="0" i="0" u="none" strike="noStrike">
                          <a:solidFill>
                            <a:srgbClr val="000000"/>
                          </a:solidFill>
                          <a:effectLst/>
                          <a:latin typeface="Calibri Light" panose="020F0302020204030204" pitchFamily="34" charset="0"/>
                        </a:rPr>
                        <a:t>Working trap</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fr-FR" sz="1100" b="0" i="0" u="none" strike="noStrike" dirty="0">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730510276"/>
                  </a:ext>
                </a:extLst>
              </a:tr>
            </a:tbl>
          </a:graphicData>
        </a:graphic>
      </p:graphicFrame>
      <p:graphicFrame>
        <p:nvGraphicFramePr>
          <p:cNvPr id="8" name="Tableau 7">
            <a:extLst>
              <a:ext uri="{FF2B5EF4-FFF2-40B4-BE49-F238E27FC236}">
                <a16:creationId xmlns:a16="http://schemas.microsoft.com/office/drawing/2014/main" id="{B1A5AD7A-CAE3-1667-78E7-12C70529365E}"/>
              </a:ext>
            </a:extLst>
          </p:cNvPr>
          <p:cNvGraphicFramePr>
            <a:graphicFrameLocks noGrp="1"/>
          </p:cNvGraphicFramePr>
          <p:nvPr>
            <p:extLst>
              <p:ext uri="{D42A27DB-BD31-4B8C-83A1-F6EECF244321}">
                <p14:modId xmlns:p14="http://schemas.microsoft.com/office/powerpoint/2010/main" val="1869704699"/>
              </p:ext>
            </p:extLst>
          </p:nvPr>
        </p:nvGraphicFramePr>
        <p:xfrm>
          <a:off x="668371" y="1736722"/>
          <a:ext cx="10858905" cy="3292473"/>
        </p:xfrm>
        <a:graphic>
          <a:graphicData uri="http://schemas.openxmlformats.org/drawingml/2006/table">
            <a:tbl>
              <a:tblPr/>
              <a:tblGrid>
                <a:gridCol w="846858">
                  <a:extLst>
                    <a:ext uri="{9D8B030D-6E8A-4147-A177-3AD203B41FA5}">
                      <a16:colId xmlns:a16="http://schemas.microsoft.com/office/drawing/2014/main" val="2783243189"/>
                    </a:ext>
                  </a:extLst>
                </a:gridCol>
                <a:gridCol w="846858">
                  <a:extLst>
                    <a:ext uri="{9D8B030D-6E8A-4147-A177-3AD203B41FA5}">
                      <a16:colId xmlns:a16="http://schemas.microsoft.com/office/drawing/2014/main" val="2420844406"/>
                    </a:ext>
                  </a:extLst>
                </a:gridCol>
                <a:gridCol w="846858">
                  <a:extLst>
                    <a:ext uri="{9D8B030D-6E8A-4147-A177-3AD203B41FA5}">
                      <a16:colId xmlns:a16="http://schemas.microsoft.com/office/drawing/2014/main" val="1352229139"/>
                    </a:ext>
                  </a:extLst>
                </a:gridCol>
                <a:gridCol w="1365900">
                  <a:extLst>
                    <a:ext uri="{9D8B030D-6E8A-4147-A177-3AD203B41FA5}">
                      <a16:colId xmlns:a16="http://schemas.microsoft.com/office/drawing/2014/main" val="4088616726"/>
                    </a:ext>
                  </a:extLst>
                </a:gridCol>
                <a:gridCol w="300498">
                  <a:extLst>
                    <a:ext uri="{9D8B030D-6E8A-4147-A177-3AD203B41FA5}">
                      <a16:colId xmlns:a16="http://schemas.microsoft.com/office/drawing/2014/main" val="1157134697"/>
                    </a:ext>
                  </a:extLst>
                </a:gridCol>
                <a:gridCol w="846858">
                  <a:extLst>
                    <a:ext uri="{9D8B030D-6E8A-4147-A177-3AD203B41FA5}">
                      <a16:colId xmlns:a16="http://schemas.microsoft.com/office/drawing/2014/main" val="2135070742"/>
                    </a:ext>
                  </a:extLst>
                </a:gridCol>
                <a:gridCol w="846858">
                  <a:extLst>
                    <a:ext uri="{9D8B030D-6E8A-4147-A177-3AD203B41FA5}">
                      <a16:colId xmlns:a16="http://schemas.microsoft.com/office/drawing/2014/main" val="3452814630"/>
                    </a:ext>
                  </a:extLst>
                </a:gridCol>
                <a:gridCol w="1721034">
                  <a:extLst>
                    <a:ext uri="{9D8B030D-6E8A-4147-A177-3AD203B41FA5}">
                      <a16:colId xmlns:a16="http://schemas.microsoft.com/office/drawing/2014/main" val="2277516382"/>
                    </a:ext>
                  </a:extLst>
                </a:gridCol>
                <a:gridCol w="846858">
                  <a:extLst>
                    <a:ext uri="{9D8B030D-6E8A-4147-A177-3AD203B41FA5}">
                      <a16:colId xmlns:a16="http://schemas.microsoft.com/office/drawing/2014/main" val="965393439"/>
                    </a:ext>
                  </a:extLst>
                </a:gridCol>
                <a:gridCol w="969789">
                  <a:extLst>
                    <a:ext uri="{9D8B030D-6E8A-4147-A177-3AD203B41FA5}">
                      <a16:colId xmlns:a16="http://schemas.microsoft.com/office/drawing/2014/main" val="3434680347"/>
                    </a:ext>
                  </a:extLst>
                </a:gridCol>
                <a:gridCol w="942471">
                  <a:extLst>
                    <a:ext uri="{9D8B030D-6E8A-4147-A177-3AD203B41FA5}">
                      <a16:colId xmlns:a16="http://schemas.microsoft.com/office/drawing/2014/main" val="1290608287"/>
                    </a:ext>
                  </a:extLst>
                </a:gridCol>
                <a:gridCol w="478065">
                  <a:extLst>
                    <a:ext uri="{9D8B030D-6E8A-4147-A177-3AD203B41FA5}">
                      <a16:colId xmlns:a16="http://schemas.microsoft.com/office/drawing/2014/main" val="3195638305"/>
                    </a:ext>
                  </a:extLst>
                </a:gridCol>
              </a:tblGrid>
              <a:tr h="262977">
                <a:tc>
                  <a:txBody>
                    <a:bodyPr/>
                    <a:lstStyle/>
                    <a:p>
                      <a:pPr algn="ctr" fontAlgn="ctr">
                        <a:buNone/>
                      </a:pPr>
                      <a:r>
                        <a:rPr lang="fr-FR" sz="1100" b="1" i="0" u="none" strike="noStrike">
                          <a:solidFill>
                            <a:srgbClr val="000000"/>
                          </a:solidFill>
                          <a:effectLst/>
                          <a:latin typeface="Calibri Light" panose="020F0302020204030204" pitchFamily="34" charset="0"/>
                        </a:rPr>
                        <a:t>Study site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Habitat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Trap code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Coord.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Alt.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Date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Period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l" fontAlgn="ctr">
                        <a:buNone/>
                      </a:pPr>
                      <a:r>
                        <a:rPr lang="fr-FR" sz="1100" b="1" i="0" u="none" strike="noStrike">
                          <a:solidFill>
                            <a:srgbClr val="000000"/>
                          </a:solidFill>
                          <a:effectLst/>
                          <a:latin typeface="Calibri Light" panose="020F0302020204030204" pitchFamily="34" charset="0"/>
                        </a:rPr>
                        <a:t>Fraction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Dry weight(g)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Observations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D25C"/>
                    </a:solidFill>
                  </a:tcPr>
                </a:tc>
                <a:tc>
                  <a:txBody>
                    <a:bodyPr/>
                    <a:lstStyle/>
                    <a:p>
                      <a:pPr algn="ctr" fontAlgn="ctr">
                        <a:buNone/>
                      </a:pPr>
                      <a:r>
                        <a:rPr lang="fr-FR" sz="1100" b="1" i="0" u="none" strike="noStrike">
                          <a:solidFill>
                            <a:srgbClr val="000000"/>
                          </a:solidFill>
                          <a:effectLst/>
                          <a:latin typeface="Calibri Light" panose="020F0302020204030204" pitchFamily="34" charset="0"/>
                        </a:rPr>
                        <a:t>status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D25C"/>
                    </a:solidFill>
                  </a:tcPr>
                </a:tc>
                <a:extLst>
                  <a:ext uri="{0D108BD9-81ED-4DB2-BD59-A6C34878D82A}">
                    <a16:rowId xmlns:a16="http://schemas.microsoft.com/office/drawing/2014/main" val="3930071959"/>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N33.24393 W3.95261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Houbara diet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0,10477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32164954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N33.24393 W3.95261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138351789"/>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N33.24393 W3.95261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Messor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0,00230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176279201"/>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N33.24393 W3.95261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0,06410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433383712"/>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N33.24378 W3.95208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Houbara diet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3915963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N33.24378 W3.95208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95324103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N33.24378 W3.95208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Messor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35621619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N33.24378 W3.95208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Calibri Light" panose="020F0302020204030204" pitchFamily="34" charset="0"/>
                        </a:rPr>
                        <a:t>0,11254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142589645"/>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N33.24335 W3.95221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Houbara diet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69632138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N33.24335 W3.95221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Tenebrionidae 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721898777"/>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N33.24335 W3.95221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Messor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988351592"/>
                  </a:ext>
                </a:extLst>
              </a:tr>
              <a:tr h="252458">
                <a:tc>
                  <a:txBody>
                    <a:bodyPr/>
                    <a:lstStyle/>
                    <a:p>
                      <a:pPr algn="ctr" fontAlgn="b">
                        <a:buNone/>
                      </a:pPr>
                      <a:r>
                        <a:rPr lang="fr-FR" sz="1100" b="0" i="0" u="none" strike="noStrike">
                          <a:solidFill>
                            <a:srgbClr val="000000"/>
                          </a:solidFill>
                          <a:effectLst/>
                          <a:latin typeface="Calibri Light" panose="020F0302020204030204" pitchFamily="34" charset="0"/>
                        </a:rPr>
                        <a:t>VB17NW1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REG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VB17NW13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N33.24335 W3.95221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986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12/04/2021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April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a:solidFill>
                            <a:srgbClr val="000000"/>
                          </a:solidFill>
                          <a:effectLst/>
                          <a:latin typeface="Calibri Light" panose="020F0302020204030204" pitchFamily="34" charset="0"/>
                        </a:rPr>
                        <a:t>Other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1" i="0" u="none" strike="noStrike">
                          <a:solidFill>
                            <a:srgbClr val="000000"/>
                          </a:solidFill>
                          <a:effectLst/>
                          <a:latin typeface="Calibri Light" panose="020F0302020204030204" pitchFamily="34" charset="0"/>
                        </a:rPr>
                        <a:t>0,02740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buNone/>
                      </a:pPr>
                      <a:r>
                        <a:rPr lang="fr-FR" sz="1100" b="0" i="0" u="none" strike="noStrike">
                          <a:solidFill>
                            <a:srgbClr val="000000"/>
                          </a:solidFill>
                          <a:effectLst/>
                          <a:latin typeface="Calibri Light" panose="020F03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fr-FR" sz="1100" b="0" i="0" u="none" strike="noStrike" dirty="0">
                          <a:solidFill>
                            <a:srgbClr val="000000"/>
                          </a:solidFill>
                          <a:effectLst/>
                          <a:latin typeface="Calibri Light" panose="020F0302020204030204" pitchFamily="34" charset="0"/>
                        </a:rPr>
                        <a:t>WT</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172862140"/>
                  </a:ext>
                </a:extLst>
              </a:tr>
            </a:tbl>
          </a:graphicData>
        </a:graphic>
      </p:graphicFrame>
    </p:spTree>
    <p:extLst>
      <p:ext uri="{BB962C8B-B14F-4D97-AF65-F5344CB8AC3E}">
        <p14:creationId xmlns:p14="http://schemas.microsoft.com/office/powerpoint/2010/main" val="7159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9CE8483-0BEA-4A53-BC71-BE748EF03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995" y="5980250"/>
            <a:ext cx="1235609" cy="741225"/>
          </a:xfrm>
          <a:prstGeom prst="rect">
            <a:avLst/>
          </a:prstGeom>
        </p:spPr>
      </p:pic>
      <p:sp>
        <p:nvSpPr>
          <p:cNvPr id="2" name="Titre 1">
            <a:extLst>
              <a:ext uri="{FF2B5EF4-FFF2-40B4-BE49-F238E27FC236}">
                <a16:creationId xmlns:a16="http://schemas.microsoft.com/office/drawing/2014/main" id="{09C2C24E-8660-485E-867B-E783157AD243}"/>
              </a:ext>
            </a:extLst>
          </p:cNvPr>
          <p:cNvSpPr>
            <a:spLocks noGrp="1"/>
          </p:cNvSpPr>
          <p:nvPr>
            <p:ph type="title"/>
          </p:nvPr>
        </p:nvSpPr>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a:extLst>
              <a:ext uri="{FF2B5EF4-FFF2-40B4-BE49-F238E27FC236}">
                <a16:creationId xmlns:a16="http://schemas.microsoft.com/office/drawing/2014/main" id="{964C0D9D-56EA-487C-B801-B1AF8B800006}"/>
              </a:ext>
            </a:extLst>
          </p:cNvPr>
          <p:cNvSpPr>
            <a:spLocks noGrp="1"/>
          </p:cNvSpPr>
          <p:nvPr>
            <p:ph idx="1"/>
          </p:nvPr>
        </p:nvSpPr>
        <p:spPr/>
        <p:txBody>
          <a:bodyPr>
            <a:normAutofit/>
          </a:bodyPr>
          <a:lstStyle/>
          <a:p>
            <a:pPr>
              <a:buFont typeface="Wingdings" panose="05000000000000000000" pitchFamily="2" charset="2"/>
              <a:buChar char="§"/>
            </a:pPr>
            <a:r>
              <a:rPr lang="fr-FR" sz="2000" dirty="0">
                <a:solidFill>
                  <a:srgbClr val="120E0C"/>
                </a:solidFill>
                <a:latin typeface="Tahoma" panose="020B0604030504040204" pitchFamily="34" charset="0"/>
                <a:ea typeface="Tahoma" panose="020B0604030504040204" pitchFamily="34" charset="0"/>
                <a:cs typeface="Tahoma" panose="020B0604030504040204" pitchFamily="34" charset="0"/>
              </a:rPr>
              <a:t>Morocco: sampling effort</a:t>
            </a:r>
          </a:p>
        </p:txBody>
      </p:sp>
      <p:sp>
        <p:nvSpPr>
          <p:cNvPr id="4" name="Espace réservé du numéro de diapositive 3">
            <a:extLst>
              <a:ext uri="{FF2B5EF4-FFF2-40B4-BE49-F238E27FC236}">
                <a16:creationId xmlns:a16="http://schemas.microsoft.com/office/drawing/2014/main" id="{5F542530-DF16-4AB6-BF52-160CFE3EA33B}"/>
              </a:ext>
            </a:extLst>
          </p:cNvPr>
          <p:cNvSpPr>
            <a:spLocks noGrp="1"/>
          </p:cNvSpPr>
          <p:nvPr>
            <p:ph type="sldNum" sz="quarter" idx="12"/>
          </p:nvPr>
        </p:nvSpPr>
        <p:spPr/>
        <p:txBody>
          <a:bodyPr/>
          <a:lstStyle/>
          <a:p>
            <a:fld id="{545B4B16-98BA-48E9-9375-F6DD616EFD3A}" type="slidenum">
              <a:rPr lang="fr-FR" smtClean="0">
                <a:solidFill>
                  <a:srgbClr val="CDA052"/>
                </a:solidFill>
                <a:latin typeface="Tahoma" panose="020B0604030504040204" pitchFamily="34" charset="0"/>
                <a:ea typeface="Tahoma" panose="020B0604030504040204" pitchFamily="34" charset="0"/>
                <a:cs typeface="Tahoma" panose="020B0604030504040204" pitchFamily="34" charset="0"/>
              </a:rPr>
              <a:t>10</a:t>
            </a:fld>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8" name="ZoneTexte 7">
            <a:extLst>
              <a:ext uri="{FF2B5EF4-FFF2-40B4-BE49-F238E27FC236}">
                <a16:creationId xmlns:a16="http://schemas.microsoft.com/office/drawing/2014/main" id="{EEA43D50-7276-613F-45B6-6B7895E651E4}"/>
              </a:ext>
            </a:extLst>
          </p:cNvPr>
          <p:cNvSpPr txBox="1"/>
          <p:nvPr/>
        </p:nvSpPr>
        <p:spPr>
          <a:xfrm>
            <a:off x="644433" y="5400063"/>
            <a:ext cx="4153989" cy="954107"/>
          </a:xfrm>
          <a:prstGeom prst="rect">
            <a:avLst/>
          </a:prstGeom>
          <a:noFill/>
        </p:spPr>
        <p:txBody>
          <a:bodyPr wrap="square" rtlCol="0">
            <a:spAutoFit/>
          </a:bodyPr>
          <a:lstStyle>
            <a:defPPr>
              <a:defRPr lang="fr-FR"/>
            </a:defPPr>
            <a:lvl1pPr>
              <a:defRPr>
                <a:effectLst/>
                <a:latin typeface="Garamond" panose="02020404030301010803" pitchFamily="18" charset="0"/>
                <a:ea typeface="Calibri" panose="020F0502020204030204" pitchFamily="34" charset="0"/>
                <a:cs typeface="Times New Roman" panose="02020603050405020304" pitchFamily="18" charset="0"/>
              </a:defRPr>
            </a:lvl1pPr>
          </a:lstStyle>
          <a:p>
            <a:r>
              <a:rPr lang="en-GB" sz="1400" dirty="0">
                <a:latin typeface="+mn-lt"/>
                <a:ea typeface="+mn-ea"/>
                <a:cs typeface="+mn-cs"/>
              </a:rPr>
              <a:t>The </a:t>
            </a:r>
            <a:r>
              <a:rPr lang="en-GB" sz="1400" b="1" dirty="0">
                <a:latin typeface="+mn-lt"/>
                <a:ea typeface="+mn-ea"/>
                <a:cs typeface="+mn-cs"/>
              </a:rPr>
              <a:t>disturbance</a:t>
            </a:r>
            <a:r>
              <a:rPr lang="en-GB" sz="1400" dirty="0">
                <a:latin typeface="+mn-lt"/>
                <a:ea typeface="+mn-ea"/>
                <a:cs typeface="+mn-cs"/>
              </a:rPr>
              <a:t> is calculated on the real number of samples that are collected in the stations. It informs on the trapping disruptions like pitfall trap damage, loss or impossible access to the study site</a:t>
            </a:r>
            <a:endParaRPr lang="fr-FR" sz="1400" dirty="0">
              <a:latin typeface="+mn-lt"/>
              <a:ea typeface="+mn-ea"/>
              <a:cs typeface="+mn-cs"/>
            </a:endParaRPr>
          </a:p>
        </p:txBody>
      </p:sp>
      <p:sp>
        <p:nvSpPr>
          <p:cNvPr id="9" name="ZoneTexte 8">
            <a:extLst>
              <a:ext uri="{FF2B5EF4-FFF2-40B4-BE49-F238E27FC236}">
                <a16:creationId xmlns:a16="http://schemas.microsoft.com/office/drawing/2014/main" id="{F6431997-7AE8-7D9D-7D81-0FDE094C8DD0}"/>
              </a:ext>
            </a:extLst>
          </p:cNvPr>
          <p:cNvSpPr txBox="1"/>
          <p:nvPr/>
        </p:nvSpPr>
        <p:spPr>
          <a:xfrm>
            <a:off x="6828263" y="4271651"/>
            <a:ext cx="5102866" cy="523220"/>
          </a:xfrm>
          <a:prstGeom prst="rect">
            <a:avLst/>
          </a:prstGeom>
          <a:noFill/>
        </p:spPr>
        <p:txBody>
          <a:bodyPr wrap="square" rtlCol="0">
            <a:spAutoFit/>
          </a:bodyPr>
          <a:lstStyle/>
          <a:p>
            <a:r>
              <a:rPr lang="en-GB" sz="1400" dirty="0"/>
              <a:t>The percentage of </a:t>
            </a:r>
            <a:r>
              <a:rPr lang="en-GB" sz="1400" b="1" dirty="0"/>
              <a:t>valid samples </a:t>
            </a:r>
            <a:r>
              <a:rPr lang="en-GB" sz="1400" dirty="0"/>
              <a:t>is obtained after invalidating flooded samples, rotten samples, sample jars full of sand</a:t>
            </a:r>
            <a:endParaRPr lang="fr-FR" sz="1400" dirty="0"/>
          </a:p>
        </p:txBody>
      </p:sp>
      <p:graphicFrame>
        <p:nvGraphicFramePr>
          <p:cNvPr id="7" name="Graphique 6">
            <a:extLst>
              <a:ext uri="{FF2B5EF4-FFF2-40B4-BE49-F238E27FC236}">
                <a16:creationId xmlns:a16="http://schemas.microsoft.com/office/drawing/2014/main" id="{C157AB49-168D-4BF4-B1CA-C88C905B677B}"/>
              </a:ext>
            </a:extLst>
          </p:cNvPr>
          <p:cNvGraphicFramePr>
            <a:graphicFrameLocks/>
          </p:cNvGraphicFramePr>
          <p:nvPr>
            <p:extLst>
              <p:ext uri="{D42A27DB-BD31-4B8C-83A1-F6EECF244321}">
                <p14:modId xmlns:p14="http://schemas.microsoft.com/office/powerpoint/2010/main" val="2904596354"/>
              </p:ext>
            </p:extLst>
          </p:nvPr>
        </p:nvGraphicFramePr>
        <p:xfrm>
          <a:off x="899704" y="2407626"/>
          <a:ext cx="4366260"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a:extLst>
              <a:ext uri="{FF2B5EF4-FFF2-40B4-BE49-F238E27FC236}">
                <a16:creationId xmlns:a16="http://schemas.microsoft.com/office/drawing/2014/main" id="{5F15D542-525A-450F-AFD8-4A16FA2BF7AF}"/>
              </a:ext>
            </a:extLst>
          </p:cNvPr>
          <p:cNvGraphicFramePr>
            <a:graphicFrameLocks/>
          </p:cNvGraphicFramePr>
          <p:nvPr>
            <p:extLst>
              <p:ext uri="{D42A27DB-BD31-4B8C-83A1-F6EECF244321}">
                <p14:modId xmlns:p14="http://schemas.microsoft.com/office/powerpoint/2010/main" val="3850302113"/>
              </p:ext>
            </p:extLst>
          </p:nvPr>
        </p:nvGraphicFramePr>
        <p:xfrm>
          <a:off x="6759325" y="435828"/>
          <a:ext cx="4404360" cy="3966210"/>
        </p:xfrm>
        <a:graphic>
          <a:graphicData uri="http://schemas.openxmlformats.org/drawingml/2006/chart">
            <c:chart xmlns:c="http://schemas.openxmlformats.org/drawingml/2006/chart" xmlns:r="http://schemas.openxmlformats.org/officeDocument/2006/relationships" r:id="rId4"/>
          </a:graphicData>
        </a:graphic>
      </p:graphicFrame>
      <p:sp>
        <p:nvSpPr>
          <p:cNvPr id="10" name="ZoneTexte 9">
            <a:extLst>
              <a:ext uri="{FF2B5EF4-FFF2-40B4-BE49-F238E27FC236}">
                <a16:creationId xmlns:a16="http://schemas.microsoft.com/office/drawing/2014/main" id="{89233E50-1532-B41A-9756-51D5F15ABC60}"/>
              </a:ext>
            </a:extLst>
          </p:cNvPr>
          <p:cNvSpPr txBox="1"/>
          <p:nvPr/>
        </p:nvSpPr>
        <p:spPr>
          <a:xfrm>
            <a:off x="6559836" y="5400064"/>
            <a:ext cx="1942138" cy="307777"/>
          </a:xfrm>
          <a:prstGeom prst="rect">
            <a:avLst/>
          </a:prstGeom>
          <a:noFill/>
        </p:spPr>
        <p:txBody>
          <a:bodyPr wrap="square" rtlCol="0">
            <a:spAutoFit/>
          </a:bodyPr>
          <a:lstStyle/>
          <a:p>
            <a:r>
              <a:rPr lang="en-GB" sz="1400" dirty="0"/>
              <a:t>Data quality control </a:t>
            </a:r>
            <a:endParaRPr lang="fr-FR" sz="1400" dirty="0"/>
          </a:p>
        </p:txBody>
      </p:sp>
      <p:sp>
        <p:nvSpPr>
          <p:cNvPr id="12" name="ZoneTexte 11">
            <a:extLst>
              <a:ext uri="{FF2B5EF4-FFF2-40B4-BE49-F238E27FC236}">
                <a16:creationId xmlns:a16="http://schemas.microsoft.com/office/drawing/2014/main" id="{F7208F8D-C26C-341E-DF8C-E069447A0AEC}"/>
              </a:ext>
            </a:extLst>
          </p:cNvPr>
          <p:cNvSpPr txBox="1"/>
          <p:nvPr/>
        </p:nvSpPr>
        <p:spPr>
          <a:xfrm>
            <a:off x="8599396" y="5400063"/>
            <a:ext cx="1737858" cy="307777"/>
          </a:xfrm>
          <a:prstGeom prst="rect">
            <a:avLst/>
          </a:prstGeom>
          <a:noFill/>
        </p:spPr>
        <p:txBody>
          <a:bodyPr wrap="square" rtlCol="0">
            <a:spAutoFit/>
          </a:bodyPr>
          <a:lstStyle/>
          <a:p>
            <a:r>
              <a:rPr lang="en-GB" sz="1400" b="1" dirty="0"/>
              <a:t>Corrections</a:t>
            </a:r>
            <a:endParaRPr lang="fr-FR" sz="1400" b="1" dirty="0"/>
          </a:p>
        </p:txBody>
      </p:sp>
      <p:sp>
        <p:nvSpPr>
          <p:cNvPr id="13" name="Flèche : droite 12">
            <a:extLst>
              <a:ext uri="{FF2B5EF4-FFF2-40B4-BE49-F238E27FC236}">
                <a16:creationId xmlns:a16="http://schemas.microsoft.com/office/drawing/2014/main" id="{F6561963-A867-3AAA-07CC-4C07465ECDE1}"/>
              </a:ext>
            </a:extLst>
          </p:cNvPr>
          <p:cNvSpPr/>
          <p:nvPr/>
        </p:nvSpPr>
        <p:spPr>
          <a:xfrm>
            <a:off x="8159885" y="5505855"/>
            <a:ext cx="402075" cy="125039"/>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19714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9000"/>
            <a:lum/>
          </a:blip>
          <a:srcRect/>
          <a:stretch>
            <a:fillRect t="-17000" b="-17000"/>
          </a:stretch>
        </a:blip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9E687DE-602E-83E9-755C-F4551DBCAB97}"/>
              </a:ext>
            </a:extLst>
          </p:cNvPr>
          <p:cNvSpPr>
            <a:spLocks noGrp="1"/>
          </p:cNvSpPr>
          <p:nvPr>
            <p:ph type="title"/>
          </p:nvPr>
        </p:nvSpPr>
        <p:spPr>
          <a:xfrm>
            <a:off x="838200" y="365125"/>
            <a:ext cx="10515600" cy="1325563"/>
          </a:xfrm>
        </p:spPr>
        <p:txBody>
          <a:bodyPr/>
          <a:lstStyle/>
          <a:p>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Food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availability</a:t>
            </a:r>
            <a:r>
              <a:rPr lang="fr-FR" dirty="0">
                <a:solidFill>
                  <a:srgbClr val="CDA052"/>
                </a:solidFill>
                <a:latin typeface="Tahoma" panose="020B0604030504040204" pitchFamily="34" charset="0"/>
                <a:ea typeface="Tahoma" panose="020B0604030504040204" pitchFamily="34" charset="0"/>
                <a:cs typeface="Tahoma" panose="020B0604030504040204" pitchFamily="34" charset="0"/>
              </a:rPr>
              <a:t> </a:t>
            </a:r>
            <a:r>
              <a:rPr lang="fr-FR" dirty="0" err="1">
                <a:solidFill>
                  <a:srgbClr val="CDA052"/>
                </a:solidFill>
                <a:latin typeface="Tahoma" panose="020B0604030504040204" pitchFamily="34" charset="0"/>
                <a:ea typeface="Tahoma" panose="020B0604030504040204" pitchFamily="34" charset="0"/>
                <a:cs typeface="Tahoma" panose="020B0604030504040204" pitchFamily="34" charset="0"/>
              </a:rPr>
              <a:t>study</a:t>
            </a:r>
            <a:endParaRPr lang="fr-FR" dirty="0">
              <a:solidFill>
                <a:srgbClr val="CDA052"/>
              </a:solidFill>
              <a:latin typeface="Tahoma" panose="020B0604030504040204" pitchFamily="34" charset="0"/>
              <a:ea typeface="Tahoma" panose="020B0604030504040204" pitchFamily="34" charset="0"/>
              <a:cs typeface="Tahoma" panose="020B0604030504040204" pitchFamily="34" charset="0"/>
            </a:endParaRPr>
          </a:p>
        </p:txBody>
      </p:sp>
      <p:sp>
        <p:nvSpPr>
          <p:cNvPr id="5" name="Titre 1">
            <a:extLst>
              <a:ext uri="{FF2B5EF4-FFF2-40B4-BE49-F238E27FC236}">
                <a16:creationId xmlns:a16="http://schemas.microsoft.com/office/drawing/2014/main" id="{59F68327-F1EE-C99A-2F7B-F8E51A0306AE}"/>
              </a:ext>
            </a:extLst>
          </p:cNvPr>
          <p:cNvSpPr txBox="1">
            <a:spLocks/>
          </p:cNvSpPr>
          <p:nvPr/>
        </p:nvSpPr>
        <p:spPr>
          <a:xfrm>
            <a:off x="4240695" y="5675934"/>
            <a:ext cx="41081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err="1">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Thank</a:t>
            </a:r>
            <a:r>
              <a:rPr lang="fr-FR"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you</a:t>
            </a:r>
            <a:r>
              <a:rPr lang="fr-FR"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85873418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5635</TotalTime>
  <Words>899</Words>
  <Application>Microsoft Office PowerPoint</Application>
  <PresentationFormat>Grand écran</PresentationFormat>
  <Paragraphs>484</Paragraphs>
  <Slides>11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11</vt:i4>
      </vt:variant>
    </vt:vector>
  </HeadingPairs>
  <TitlesOfParts>
    <vt:vector size="18" baseType="lpstr">
      <vt:lpstr>Arial</vt:lpstr>
      <vt:lpstr>Calibri</vt:lpstr>
      <vt:lpstr>Calibri Light</vt:lpstr>
      <vt:lpstr>Tahoma</vt:lpstr>
      <vt:lpstr>Times New Roman</vt:lpstr>
      <vt:lpstr>Wingdings</vt:lpstr>
      <vt:lpstr>Thème Office</vt:lpstr>
      <vt:lpstr>Food availability study</vt:lpstr>
      <vt:lpstr>Food availability study</vt:lpstr>
      <vt:lpstr>Présentation PowerPoint</vt:lpstr>
      <vt:lpstr>Food availability study</vt:lpstr>
      <vt:lpstr>Food availability study</vt:lpstr>
      <vt:lpstr>Food availability study</vt:lpstr>
      <vt:lpstr>Food availability study</vt:lpstr>
      <vt:lpstr>Présentation PowerPoint</vt:lpstr>
      <vt:lpstr>Présentation PowerPoint</vt:lpstr>
      <vt:lpstr>Food availability study</vt:lpstr>
      <vt:lpstr>Food availability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Bleuenn MENARD</dc:creator>
  <cp:lastModifiedBy>FRANCOIS Alexandre</cp:lastModifiedBy>
  <cp:revision>115</cp:revision>
  <cp:lastPrinted>2017-07-24T07:47:55Z</cp:lastPrinted>
  <dcterms:created xsi:type="dcterms:W3CDTF">2017-07-24T07:05:15Z</dcterms:created>
  <dcterms:modified xsi:type="dcterms:W3CDTF">2025-07-08T15:42:27Z</dcterms:modified>
</cp:coreProperties>
</file>